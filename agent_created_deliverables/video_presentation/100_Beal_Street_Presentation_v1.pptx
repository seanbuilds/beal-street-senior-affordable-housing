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definitive history of 100 Beal Street in Hingham, Massachusetts. Over the past thirty-seven years, this parcel of former Navy ammunition depot land has journeyed through military remediation, an unrecorded deed release, a Town Hall lawsuit vote, decisive state intervention, and an award-winning senior housing design. In this presentation, we walk through the exact documentary record, separating verified legal facts from persistent town rumors.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story begins on April 21st, 1989. The Town of Hingham conveyed a fifteen-acre parcel of surplus Navy depot land known as School Tract II to the independent Hingham Housing Authority for forty-five thousand seven hundred fifty-one dollars. The deed carried a specific restriction: the land was to be used for a residential educational facility for troubled adolescents. Critically, page one hundred sixty stated that if that youth use ever ceased, the Town retained a right of re-entry. However, the deed explicitly dictated that this right of re-entry terminated thirty years from the date of the deed.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Shortly after the conveyance, a twelve-bed group home was constructed on a dedicated two-acre corner of the parcel along Beal Street, funded through the Commonwealth's Chapter 689 specialized housing program. For over thirty-five years, this facility has operated continuously under active state contracts caring for vulnerable youth. Because the facility never ceased operations and was never abandoned, the Town never had legal grounds to trigger a default or claim a re-entry during the entire thirty-year statutory window.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Behind the adolescent home lay thirteen undeveloped acres containing abandoned World War II concrete ammunition bunkers and earth mounds from the old naval depot. In 2001, the Town funded the demolition of the bunkers and cleaned up hazardous materials. The Town and Housing Authority signed a Memorandum of Understanding and recorded Plan one hundred of 2001. This official survey divided the property into two parcels: Lot One, preserving the two-acre adolescent home, and Lot Two, an eight-acre remediated, buildable upland plateau with frontage on Beal Street.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years ago, the citizens of Hingham took decisive action. At the May 2006 Annual Town Meeting, voters considered Warrant Article thirty-eight. By an overwhelming declared two-thirds supermajority, Town Meeting voted to authorize the Board of Selectmen to amend the 1989 deed restriction, explicitly adding affordable senior housing as an allowable use for the surplus plateau. This was a clear democratic mandate to build affordable homes for Hingham seniors. Yet in an extraordinary municipal oversight, Town Hall never actually drafted, executed, or recorded that authorized deed release at the Plymouth County Registry of Deeds.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over a decade, the unrecorded deed release remained unnoticed. But between 2016 and 2017, during due diligence for adjacent parcels on Beal Street, Town Counsel Susan Murphy discovered that the 2006 deed amendment had never been recorded. Selectman Karen Johnson briefed the Board in public sessions on January 30th and February 13th, 2018, arguing that because the Town had funded the 2001 bunker demolition, the eight acres should belong to the Town. However, the Housing Authority Board declined to surrender the parcel, noting its complex title and statutory public housing mission.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February 2019, the situation reached a boiling point. The thirty-year calendar mark from the 1989 deed was set to expire on March 7th, 2019. Under Massachusetts law, if that date passed, any right of re-entry the Town held would vanish forever. On February 26th, exactly nine days before the deadline, the Select Board convened in Executive Session. Returning to Open Session, Selectman Karen Johnson seconded a motion by Chairman Paul Healey, and the Board voted three to zero to authorize formal litigation against their own Housing Authority to force them to deed the land back to the Town.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Confronted with the threat of an imminent lawsuit from Town Hall, the Hingham Housing Authority Board of Commissioners held an emergency special meeting on June 5th, 2019. Under intense legal pressure, the commissioners voted to approve a motion agreeing to transfer approximately nineteen acres of Housing Authority property off Beal Street back to municipal control. To outside observers, it appeared Town Hall had won the standoff and that the land was no longer under Housing Authority control. But an unexpected legal force was about to intervene.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Town Hall's victory was short-lived. Under Massachusetts General Laws Chapter 121B, local housing authorities are independent public corporations created by the Legislature, not municipal departments. Furthermore, because state public housing funding had been utilized at the Beal Street site, state law strictly prohibits any housing authority from selling or transferring public housing land without prior written approval from the Commonwealth. Massachusetts DHCD Associate Director Amy Stitely issued formal warnings to both the Housing Authority and Town Counsel, stating plainly that the proposed transfer violated state law and public housing covenants, and would not be approved.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that Town Hall could not execute a transfer behind closed doors, the Commonwealth took decisive action on public land records. On July 18th, 2019, the state recorded a formal Notice of Statutory Transfer Restriction at the Plymouth County Registry of Deeds in Book fifty-one thousand three hundred seventy-nine, Page two hundred forty-four. Citing Chapter 121B, Section 34, this instrument legally encumbers 100 Beal Street. Any deed or transfer executed without the state's signature is void as a matter of law. The land was permanently locked for public affordable housing.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Backed by state regulatory authority and legal counsel, the Hingham Housing Authority Board of Commissioners reconvened on September 7th, 2021, to settle the issue permanently. Commissioner O’Meara made a formal motion, seconded by Commissioner Lauter, to rescind the June 2019 transfer vote. The motion passed unanimously on a four to zero roll call vote. The official minutes declared unequivocally that the transfer was rescinded, and that the parcel would remain in the sole ownership of the Hingham Housing Authority to fulfill its mission of providing senior affordable housing.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proceeding with architectural designs, the Housing Authority conducted rigorous environmental due diligence. Lucas Environmental delineated 155 wetland flags around Tucker's Swamp and the Weymouth Back River Area of Critical Environmental Concern. On November 4th, 2024, the Hingham Conservation Commission voted unanimously, five to zero, to approve an Order of Resource Area Delineation, recorded at the Registry in Book fifty-nine thousand five hundred twenty-seven, Page two hundred seventy-three. This binding environmental order confirmed that the development plateau on Lot B is high, dry, and completely outside sensitive wetland resource areas, safeguarding our natural waterways.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April 2025, the Housing Authority issued a comprehensive 155-page Request for Proposals under state procurement laws. On August 12th, 2025, following competitive evaluation, the Housing Authority Board voted unanimously, four to zero, to award the development to Peabody Properties and Affordable Housing Services Corporation. Under the agreement, Peabody will build a sixty-eight-unit rental community restricted to seniors aged sixty-two and older. The project utilizes a ninety-nine-year ground lease, meaning the town housing authority retains permanent land ownership, receives a five hundred thousand dollar upfront fee, and taxpayers bear zero debt.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architectural design, created by Weston and Sampson, reflects thoughtful community integration. Rather than an institutional complex, the development features a modest three-story wood-frame building that complements Hingham's residential character. All sixty-eight units are designed with universal accessibility, wide corridors, and step-free access for aging in place. The site plan incorporates a protected central courtyard, community gardens, walking paths, and cutting-edge bioretention stormwater basins that filter rainwater on-site, preserving fifty feet of natural vegetative tree buffers between the residence and adjacent neighborhoods.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must address the single biggest rumor in Hingham: the belief that Town Meeting voted down 100 Beal Street. This is completely false. On April 27th, 2026, Town Meeting debated Warrant Article twelve. That article proposed borrowing nearly thirty million dollars in municipal taxpayer debt to build the Center for Active Living—a daytime senior activities center inside Bare Cove Park. Under state finance law, municipal borrowing requires a strict two-thirds supermajority. The bond failed, receiving fifty-two percent. Because both projects involved seniors and both bordered Tucker's Swamp, rumors spread that the senior project died. In reality, 100 Beal Street was never on the ballot, costs taxpayers zero dollars, and is actively moving forward.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of late 2026, 100 Beal Street is advancing through its final development phases. The Housing Authority is executing the formal Land Disposition Agreement with Peabody Properties. Permitting will proceed through a Chapter 40B Comprehensive Permit before the Zoning Board of Appeals, followed by state affordable housing tax credit financing. Construction will bring sixty-eight modern, dignified homes for Hingham's aging residents. Thirty-seven years after School Tract II was first deeded, this historic parcel will finally fulfill its democratic promise: offering Hingham seniors a permanent, affordable place to call home.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10515600" cy="1188720"/>
          </a:xfrm>
          <a:prstGeom prst="rect">
            <a:avLst/>
          </a:prstGeom>
          <a:noFill/>
        </p:spPr>
        <p:txBody>
          <a:bodyPr wrap="square">
            <a:spAutoFit/>
          </a:bodyPr>
          <a:lstStyle/>
          <a:p>
            <a:pPr>
              <a:defRPr b="1" sz="3600">
                <a:solidFill>
                  <a:srgbClr val="FFFFFF"/>
                </a:solidFill>
                <a:latin typeface="Arial"/>
              </a:defRPr>
            </a:pPr>
            <a:r>
              <a:t>100 Beal Street: The 37-Year Journey</a:t>
            </a:r>
          </a:p>
          <a:p>
            <a:pPr>
              <a:spcBef>
                <a:spcPts val="400"/>
              </a:spcBef>
              <a:defRPr sz="1600">
                <a:solidFill>
                  <a:srgbClr val="D97706"/>
                </a:solidFill>
                <a:latin typeface="Arial"/>
              </a:defRPr>
            </a:pPr>
            <a:r>
              <a:t>From Naval Munitions Bunkers to State-Protected Senior Affordable Housing (1989–2026)</a:t>
            </a:r>
          </a:p>
        </p:txBody>
      </p:sp>
      <p:sp>
        <p:nvSpPr>
          <p:cNvPr id="4" name="Rounded Rectangle 3"/>
          <p:cNvSpPr/>
          <p:nvPr/>
        </p:nvSpPr>
        <p:spPr>
          <a:xfrm>
            <a:off x="731520" y="2377440"/>
            <a:ext cx="10728655" cy="3840480"/>
          </a:xfrm>
          <a:prstGeom prst="roundRect">
            <a:avLst/>
          </a:prstGeom>
          <a:solidFill>
            <a:srgbClr val="12308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D97706"/>
                </a:solidFill>
                <a:latin typeface="Arial"/>
              </a:defRPr>
            </a:pPr>
            <a:r>
              <a:t>Project Foundation</a:t>
            </a:r>
          </a:p>
          <a:p>
            <a:pPr>
              <a:spcAft>
                <a:spcPts val="800"/>
              </a:spcAft>
              <a:defRPr sz="1400">
                <a:solidFill>
                  <a:srgbClr val="FFFFFF"/>
                </a:solidFill>
                <a:latin typeface="Arial"/>
              </a:defRPr>
            </a:pPr>
            <a:r>
              <a:t>•  Subject Property: 100 Beal Street, Hingham, MA (School Tract II)</a:t>
            </a:r>
          </a:p>
          <a:p>
            <a:pPr>
              <a:spcAft>
                <a:spcPts val="800"/>
              </a:spcAft>
              <a:defRPr sz="1400">
                <a:solidFill>
                  <a:srgbClr val="FFFFFF"/>
                </a:solidFill>
                <a:latin typeface="Arial"/>
              </a:defRPr>
            </a:pPr>
            <a:r>
              <a:t>•  Record Property Owner: Hingham Housing Authority (Independent State Public Entity)</a:t>
            </a:r>
          </a:p>
          <a:p>
            <a:pPr>
              <a:spcAft>
                <a:spcPts val="800"/>
              </a:spcAft>
              <a:defRPr sz="1400">
                <a:solidFill>
                  <a:srgbClr val="FFFFFF"/>
                </a:solidFill>
                <a:latin typeface="Arial"/>
              </a:defRPr>
            </a:pPr>
            <a:r>
              <a:t>•  Development Scope: 68-Unit Age-Restricted Senior Affordable Rental Community (62+)</a:t>
            </a:r>
          </a:p>
          <a:p>
            <a:pPr>
              <a:spcAft>
                <a:spcPts val="800"/>
              </a:spcAft>
              <a:defRPr sz="1400">
                <a:solidFill>
                  <a:srgbClr val="FFFFFF"/>
                </a:solidFill>
                <a:latin typeface="Arial"/>
              </a:defRPr>
            </a:pPr>
            <a:r>
              <a:t>•  Developer: Peabody Properties / Affordable Housing Services Corp. (99-Year Ground Lease)</a:t>
            </a:r>
          </a:p>
          <a:p>
            <a:pPr>
              <a:spcAft>
                <a:spcPts val="800"/>
              </a:spcAft>
              <a:defRPr sz="1400">
                <a:solidFill>
                  <a:srgbClr val="FFFFFF"/>
                </a:solidFill>
                <a:latin typeface="Arial"/>
              </a:defRPr>
            </a:pPr>
            <a:r>
              <a:t>•  Municipal Financial Impact: Exactly $0 in Town Borrowing or Taxpayer Debt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02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April 1989: The Deed &amp; The 30-Year Reverter</a:t>
            </a:r>
          </a:p>
          <a:p>
            <a:pPr>
              <a:spcBef>
                <a:spcPts val="400"/>
              </a:spcBef>
              <a:defRPr sz="1600">
                <a:solidFill>
                  <a:srgbClr val="9E1B32"/>
                </a:solidFill>
                <a:latin typeface="Arial"/>
              </a:defRPr>
            </a:pPr>
            <a:r>
              <a:t>Town Conveys 15.014 Acres of Surplus Military Land to HHA</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Recorded Fee Deed Facts</a:t>
            </a:r>
          </a:p>
          <a:p>
            <a:pPr>
              <a:spcAft>
                <a:spcPts val="800"/>
              </a:spcAft>
              <a:defRPr sz="1400">
                <a:solidFill>
                  <a:srgbClr val="1A1D20"/>
                </a:solidFill>
                <a:latin typeface="Arial"/>
              </a:defRPr>
            </a:pPr>
            <a:r>
              <a:t>•  Document Date: March 7, 1989 | Recording Date: April 21, 1989</a:t>
            </a:r>
          </a:p>
          <a:p>
            <a:pPr>
              <a:spcAft>
                <a:spcPts val="800"/>
              </a:spcAft>
              <a:defRPr sz="1400">
                <a:solidFill>
                  <a:srgbClr val="1A1D20"/>
                </a:solidFill>
                <a:latin typeface="Arial"/>
              </a:defRPr>
            </a:pPr>
            <a:r>
              <a:t>•  Registry Citation: Plymouth County Registry of Deeds, Book 09097, Page 158 (Doc #29758)</a:t>
            </a:r>
          </a:p>
          <a:p>
            <a:pPr>
              <a:spcAft>
                <a:spcPts val="800"/>
              </a:spcAft>
              <a:defRPr sz="1400">
                <a:solidFill>
                  <a:srgbClr val="1A1D20"/>
                </a:solidFill>
                <a:latin typeface="Arial"/>
              </a:defRPr>
            </a:pPr>
            <a:r>
              <a:t>•  Grantor: Inhabitants of the Town of Hingham | Grantee: Hingham Housing Authority</a:t>
            </a:r>
          </a:p>
          <a:p>
            <a:pPr>
              <a:spcAft>
                <a:spcPts val="800"/>
              </a:spcAft>
              <a:defRPr sz="1400">
                <a:solidFill>
                  <a:srgbClr val="1A1D20"/>
                </a:solidFill>
                <a:latin typeface="Arial"/>
              </a:defRPr>
            </a:pPr>
            <a:r>
              <a:t>•  Stated Consideration: $45,751 for entire 15.014-acre parcel (School Tract II)</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The 30-Year Reverter Clause (Page 160)</a:t>
            </a:r>
          </a:p>
          <a:p>
            <a:pPr>
              <a:spcAft>
                <a:spcPts val="800"/>
              </a:spcAft>
              <a:defRPr sz="1400">
                <a:solidFill>
                  <a:srgbClr val="1A1D20"/>
                </a:solidFill>
                <a:latin typeface="Arial"/>
              </a:defRPr>
            </a:pPr>
            <a:r>
              <a:t>•  Use Restriction: Solely for adolescent residential education / group care facility</a:t>
            </a:r>
          </a:p>
          <a:p>
            <a:pPr>
              <a:spcAft>
                <a:spcPts val="800"/>
              </a:spcAft>
              <a:defRPr sz="1400">
                <a:solidFill>
                  <a:srgbClr val="1A1D20"/>
                </a:solidFill>
                <a:latin typeface="Arial"/>
              </a:defRPr>
            </a:pPr>
            <a:r>
              <a:t>•  Right of Re-Entry: Town retained right to enter if adolescent care ceased</a:t>
            </a:r>
          </a:p>
          <a:p>
            <a:pPr>
              <a:spcAft>
                <a:spcPts val="800"/>
              </a:spcAft>
              <a:defRPr sz="1400">
                <a:solidFill>
                  <a:srgbClr val="1A1D20"/>
                </a:solidFill>
                <a:latin typeface="Arial"/>
              </a:defRPr>
            </a:pPr>
            <a:r>
              <a:t>•  Statutory Expiration: Deed expressly dictates re-entry terminates after thirty years under M.G.L. c. 184A, § 3</a:t>
            </a:r>
          </a:p>
          <a:p>
            <a:pPr>
              <a:spcAft>
                <a:spcPts val="800"/>
              </a:spcAft>
              <a:defRPr sz="1400">
                <a:solidFill>
                  <a:srgbClr val="1A1D20"/>
                </a:solidFill>
                <a:latin typeface="Arial"/>
              </a:defRPr>
            </a:pPr>
            <a:r>
              <a:t>•  Expiration Date: March 7, 2019 (Exactly 30 years from deed execution)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03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1990 to Present: Continuous Public Service</a:t>
            </a:r>
          </a:p>
          <a:p>
            <a:pPr>
              <a:spcBef>
                <a:spcPts val="400"/>
              </a:spcBef>
              <a:defRPr sz="1600">
                <a:solidFill>
                  <a:srgbClr val="9E1B32"/>
                </a:solidFill>
                <a:latin typeface="Arial"/>
              </a:defRPr>
            </a:pPr>
            <a:r>
              <a:t>The 12-Bed Adolescent Facility Operates Without Interruption</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Continuous Operational Compliance</a:t>
            </a:r>
          </a:p>
          <a:p>
            <a:pPr>
              <a:spcAft>
                <a:spcPts val="800"/>
              </a:spcAft>
              <a:defRPr sz="1400">
                <a:solidFill>
                  <a:srgbClr val="1A1D20"/>
                </a:solidFill>
                <a:latin typeface="Arial"/>
              </a:defRPr>
            </a:pPr>
            <a:r>
              <a:t>•  Facility Footprint: 12-bed group home constructed on dedicated 2.0-acre parcel fronting Beal Street</a:t>
            </a:r>
          </a:p>
          <a:p>
            <a:pPr>
              <a:spcAft>
                <a:spcPts val="800"/>
              </a:spcAft>
              <a:defRPr sz="1400">
                <a:solidFill>
                  <a:srgbClr val="1A1D20"/>
                </a:solidFill>
                <a:latin typeface="Arial"/>
              </a:defRPr>
            </a:pPr>
            <a:r>
              <a:t>•  Funding Program: Commonwealth Chapter 689 specialized public housing funds</a:t>
            </a:r>
          </a:p>
          <a:p>
            <a:pPr>
              <a:spcAft>
                <a:spcPts val="800"/>
              </a:spcAft>
              <a:defRPr sz="1400">
                <a:solidFill>
                  <a:srgbClr val="1A1D20"/>
                </a:solidFill>
                <a:latin typeface="Arial"/>
              </a:defRPr>
            </a:pPr>
            <a:r>
              <a:t>•  Operating Provider: Continuous license to specialized youth service providers</a:t>
            </a:r>
          </a:p>
          <a:p>
            <a:pPr>
              <a:spcAft>
                <a:spcPts val="800"/>
              </a:spcAft>
              <a:defRPr sz="1400">
                <a:solidFill>
                  <a:srgbClr val="1A1D20"/>
                </a:solidFill>
                <a:latin typeface="Arial"/>
              </a:defRPr>
            </a:pPr>
            <a:r>
              <a:t>•  Zero Operational Default: At no point did youth care use cease between 1989 and 2019</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Legal Implication of Unbroken Service</a:t>
            </a:r>
          </a:p>
          <a:p>
            <a:pPr>
              <a:spcAft>
                <a:spcPts val="800"/>
              </a:spcAft>
              <a:defRPr sz="1400">
                <a:solidFill>
                  <a:srgbClr val="1A1D20"/>
                </a:solidFill>
                <a:latin typeface="Arial"/>
              </a:defRPr>
            </a:pPr>
            <a:r>
              <a:t>•  Condition Precedent: Town re-entry required cessation of adolescent care</a:t>
            </a:r>
          </a:p>
          <a:p>
            <a:pPr>
              <a:spcAft>
                <a:spcPts val="800"/>
              </a:spcAft>
              <a:defRPr sz="1400">
                <a:solidFill>
                  <a:srgbClr val="1A1D20"/>
                </a:solidFill>
                <a:latin typeface="Arial"/>
              </a:defRPr>
            </a:pPr>
            <a:r>
              <a:t>•  Unbroken Compliance: Continuous use prevented any default trigger</a:t>
            </a:r>
          </a:p>
          <a:p>
            <a:pPr>
              <a:spcAft>
                <a:spcPts val="800"/>
              </a:spcAft>
              <a:defRPr sz="1400">
                <a:solidFill>
                  <a:srgbClr val="1A1D20"/>
                </a:solidFill>
                <a:latin typeface="Arial"/>
              </a:defRPr>
            </a:pPr>
            <a:r>
              <a:t>•  State Covenants: State Chapter 689 funding attached permanent public housing protections</a:t>
            </a:r>
          </a:p>
          <a:p>
            <a:pPr>
              <a:spcAft>
                <a:spcPts val="800"/>
              </a:spcAft>
              <a:defRPr sz="1400">
                <a:solidFill>
                  <a:srgbClr val="1A1D20"/>
                </a:solidFill>
                <a:latin typeface="Arial"/>
              </a:defRPr>
            </a:pPr>
            <a:r>
              <a:t>•  Result: The Town never had lawful grounds to re-enter during the 30-year window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04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June 2001: Demolition, Remediation &amp; Division</a:t>
            </a:r>
          </a:p>
          <a:p>
            <a:pPr>
              <a:spcBef>
                <a:spcPts val="400"/>
              </a:spcBef>
              <a:defRPr sz="1600">
                <a:solidFill>
                  <a:srgbClr val="9E1B32"/>
                </a:solidFill>
                <a:latin typeface="Arial"/>
              </a:defRPr>
            </a:pPr>
            <a:r>
              <a:t>WWII Munitions Bunkers Cleared; 8-Acre Surplus Plateau Created</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Naval Depot Remediation</a:t>
            </a:r>
          </a:p>
          <a:p>
            <a:pPr>
              <a:spcAft>
                <a:spcPts val="800"/>
              </a:spcAft>
              <a:defRPr sz="1400">
                <a:solidFill>
                  <a:srgbClr val="1A1D20"/>
                </a:solidFill>
                <a:latin typeface="Arial"/>
              </a:defRPr>
            </a:pPr>
            <a:r>
              <a:t>•  Historical Condition: Interior 13 acres held abandoned WWII naval ammunition bunkers and earthen berms</a:t>
            </a:r>
          </a:p>
          <a:p>
            <a:pPr>
              <a:spcAft>
                <a:spcPts val="800"/>
              </a:spcAft>
              <a:defRPr sz="1400">
                <a:solidFill>
                  <a:srgbClr val="1A1D20"/>
                </a:solidFill>
                <a:latin typeface="Arial"/>
              </a:defRPr>
            </a:pPr>
            <a:r>
              <a:t>•  Remediation Project: Town of Hingham funded demolition and hazardous materials cleanup</a:t>
            </a:r>
          </a:p>
          <a:p>
            <a:pPr>
              <a:spcAft>
                <a:spcPts val="800"/>
              </a:spcAft>
              <a:defRPr sz="1400">
                <a:solidFill>
                  <a:srgbClr val="1A1D20"/>
                </a:solidFill>
                <a:latin typeface="Arial"/>
              </a:defRPr>
            </a:pPr>
            <a:r>
              <a:t>•  Gale Associates Survey: Plan 100 of 2001 (Plymouth Plan Book 44, Page 412)</a:t>
            </a:r>
          </a:p>
          <a:p>
            <a:pPr>
              <a:spcAft>
                <a:spcPts val="800"/>
              </a:spcAft>
              <a:defRPr sz="1400">
                <a:solidFill>
                  <a:srgbClr val="1A1D20"/>
                </a:solidFill>
                <a:latin typeface="Arial"/>
              </a:defRPr>
            </a:pPr>
            <a:r>
              <a:t>•  Administrative MOU: Town and Housing Authority execute cooperative site agreement</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Division of School Tract II</a:t>
            </a:r>
          </a:p>
          <a:p>
            <a:pPr>
              <a:spcAft>
                <a:spcPts val="800"/>
              </a:spcAft>
              <a:defRPr sz="1400">
                <a:solidFill>
                  <a:srgbClr val="1A1D20"/>
                </a:solidFill>
                <a:latin typeface="Arial"/>
              </a:defRPr>
            </a:pPr>
            <a:r>
              <a:t>•  Lot 1 (2.000 Acres): Active adolescent group home and dedicated frontage</a:t>
            </a:r>
          </a:p>
          <a:p>
            <a:pPr>
              <a:spcAft>
                <a:spcPts val="800"/>
              </a:spcAft>
              <a:defRPr sz="1400">
                <a:solidFill>
                  <a:srgbClr val="1A1D20"/>
                </a:solidFill>
                <a:latin typeface="Arial"/>
              </a:defRPr>
            </a:pPr>
            <a:r>
              <a:t>•  Lot 2 (8.020 Acres): Remediated, buildable upland plateau with frontage on Beal Street</a:t>
            </a:r>
          </a:p>
          <a:p>
            <a:pPr>
              <a:spcAft>
                <a:spcPts val="800"/>
              </a:spcAft>
              <a:defRPr sz="1400">
                <a:solidFill>
                  <a:srgbClr val="1A1D20"/>
                </a:solidFill>
                <a:latin typeface="Arial"/>
              </a:defRPr>
            </a:pPr>
            <a:r>
              <a:t>•  Topography: High, dry plateau separated from rear wetland basin</a:t>
            </a:r>
          </a:p>
          <a:p>
            <a:pPr>
              <a:spcAft>
                <a:spcPts val="800"/>
              </a:spcAft>
              <a:defRPr sz="1400">
                <a:solidFill>
                  <a:srgbClr val="1A1D20"/>
                </a:solidFill>
                <a:latin typeface="Arial"/>
              </a:defRPr>
            </a:pPr>
            <a:r>
              <a:t>•  Outcome: Established clean, separate building lot for future community housing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05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May 2006: Town Meeting Mandates Senior Housing</a:t>
            </a:r>
          </a:p>
          <a:p>
            <a:pPr>
              <a:spcBef>
                <a:spcPts val="400"/>
              </a:spcBef>
              <a:defRPr sz="1600">
                <a:solidFill>
                  <a:srgbClr val="9E1B32"/>
                </a:solidFill>
                <a:latin typeface="Arial"/>
              </a:defRPr>
            </a:pPr>
            <a:r>
              <a:t>Declared 2/3 Supermajority Authorizes Deed Release for Affordable Housing</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Democratic Town Meeting Mandate</a:t>
            </a:r>
          </a:p>
          <a:p>
            <a:pPr>
              <a:spcAft>
                <a:spcPts val="800"/>
              </a:spcAft>
              <a:defRPr sz="1400">
                <a:solidFill>
                  <a:srgbClr val="1A1D20"/>
                </a:solidFill>
                <a:latin typeface="Arial"/>
              </a:defRPr>
            </a:pPr>
            <a:r>
              <a:t>•  Legislative Assembly: Hingham Annual Town Meeting (May 1, 2006)</a:t>
            </a:r>
          </a:p>
          <a:p>
            <a:pPr>
              <a:spcAft>
                <a:spcPts val="800"/>
              </a:spcAft>
              <a:defRPr sz="1400">
                <a:solidFill>
                  <a:srgbClr val="1A1D20"/>
                </a:solidFill>
                <a:latin typeface="Arial"/>
              </a:defRPr>
            </a:pPr>
            <a:r>
              <a:t>•  Warrant Article 38: Sponsored to dedicate Lot 2 plateau for affordable senior living</a:t>
            </a:r>
          </a:p>
          <a:p>
            <a:pPr>
              <a:spcAft>
                <a:spcPts val="800"/>
              </a:spcAft>
              <a:defRPr sz="1400">
                <a:solidFill>
                  <a:srgbClr val="1A1D20"/>
                </a:solidFill>
                <a:latin typeface="Arial"/>
              </a:defRPr>
            </a:pPr>
            <a:r>
              <a:t>•  Voting Threshold: Passed by declared two-thirds supermajority vote</a:t>
            </a:r>
          </a:p>
          <a:p>
            <a:pPr>
              <a:spcAft>
                <a:spcPts val="800"/>
              </a:spcAft>
              <a:defRPr sz="1400">
                <a:solidFill>
                  <a:srgbClr val="1A1D20"/>
                </a:solidFill>
                <a:latin typeface="Arial"/>
              </a:defRPr>
            </a:pPr>
            <a:r>
              <a:t>•  Certified Enactment: Official certification sealed by Town Clerk Eileen A. McCracken</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The Unrecorded Mandate</a:t>
            </a:r>
          </a:p>
          <a:p>
            <a:pPr>
              <a:spcAft>
                <a:spcPts val="800"/>
              </a:spcAft>
              <a:defRPr sz="1400">
                <a:solidFill>
                  <a:srgbClr val="1A1D20"/>
                </a:solidFill>
                <a:latin typeface="Arial"/>
              </a:defRPr>
            </a:pPr>
            <a:r>
              <a:t>•  Vote Directive: Authorized Selectmen to amend 1989 deed to allow residential affordable housing</a:t>
            </a:r>
          </a:p>
          <a:p>
            <a:pPr>
              <a:spcAft>
                <a:spcPts val="800"/>
              </a:spcAft>
              <a:defRPr sz="1400">
                <a:solidFill>
                  <a:srgbClr val="1A1D20"/>
                </a:solidFill>
                <a:latin typeface="Arial"/>
              </a:defRPr>
            </a:pPr>
            <a:r>
              <a:t>•  The Administrative Breakdown: Town Hall never executed or recorded the amended deed release</a:t>
            </a:r>
          </a:p>
          <a:p>
            <a:pPr>
              <a:spcAft>
                <a:spcPts val="800"/>
              </a:spcAft>
              <a:defRPr sz="1400">
                <a:solidFill>
                  <a:srgbClr val="1A1D20"/>
                </a:solidFill>
                <a:latin typeface="Arial"/>
              </a:defRPr>
            </a:pPr>
            <a:r>
              <a:t>•  Public Records Gap: Omission went completely unnoticed in municipal files for over a decade</a:t>
            </a:r>
          </a:p>
          <a:p>
            <a:pPr>
              <a:spcAft>
                <a:spcPts val="800"/>
              </a:spcAft>
              <a:defRPr sz="1400">
                <a:solidFill>
                  <a:srgbClr val="1A1D20"/>
                </a:solidFill>
                <a:latin typeface="Arial"/>
              </a:defRPr>
            </a:pPr>
            <a:r>
              <a:t>•  Key Takeaway: Hingham voters affirmatively approved affordable housing on this site in 2006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06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2017–2018: The Unexecuted Deed Resurfaces</a:t>
            </a:r>
          </a:p>
          <a:p>
            <a:pPr>
              <a:spcBef>
                <a:spcPts val="400"/>
              </a:spcBef>
              <a:defRPr sz="1600">
                <a:solidFill>
                  <a:srgbClr val="9E1B32"/>
                </a:solidFill>
                <a:latin typeface="Arial"/>
              </a:defRPr>
            </a:pPr>
            <a:r>
              <a:t>Beal Street Due Diligence Reveals the Unrecorded Release</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Discovery of the Unrecorded Release</a:t>
            </a:r>
          </a:p>
          <a:p>
            <a:pPr>
              <a:spcAft>
                <a:spcPts val="800"/>
              </a:spcAft>
              <a:defRPr sz="1400">
                <a:solidFill>
                  <a:srgbClr val="1A1D20"/>
                </a:solidFill>
                <a:latin typeface="Arial"/>
              </a:defRPr>
            </a:pPr>
            <a:r>
              <a:t>•  Title Review: Town Counsel Susan Murphy discovers the 2006 deed amendment was never recorded</a:t>
            </a:r>
          </a:p>
          <a:p>
            <a:pPr>
              <a:spcAft>
                <a:spcPts val="800"/>
              </a:spcAft>
              <a:defRPr sz="1400">
                <a:solidFill>
                  <a:srgbClr val="1A1D20"/>
                </a:solidFill>
                <a:latin typeface="Arial"/>
              </a:defRPr>
            </a:pPr>
            <a:r>
              <a:t>•  Selectmen Jan 30, 2018: Selectman Karen Johnson details 2001 bunker demolition costs</a:t>
            </a:r>
          </a:p>
          <a:p>
            <a:pPr>
              <a:spcAft>
                <a:spcPts val="800"/>
              </a:spcAft>
              <a:defRPr sz="1400">
                <a:solidFill>
                  <a:srgbClr val="1A1D20"/>
                </a:solidFill>
                <a:latin typeface="Arial"/>
              </a:defRPr>
            </a:pPr>
            <a:r>
              <a:t>•  Town Position: Selectmen argue Town paid remediation, so 8 acres should belong to Town</a:t>
            </a:r>
          </a:p>
          <a:p>
            <a:pPr>
              <a:spcAft>
                <a:spcPts val="800"/>
              </a:spcAft>
              <a:defRPr sz="1400">
                <a:solidFill>
                  <a:srgbClr val="1A1D20"/>
                </a:solidFill>
                <a:latin typeface="Arial"/>
              </a:defRPr>
            </a:pPr>
            <a:r>
              <a:t>•  HHA Position: HHA Chair Bob Keys requests full legal review of title restrictions</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The Impasse</a:t>
            </a:r>
          </a:p>
          <a:p>
            <a:pPr>
              <a:spcAft>
                <a:spcPts val="800"/>
              </a:spcAft>
              <a:defRPr sz="1400">
                <a:solidFill>
                  <a:srgbClr val="1A1D20"/>
                </a:solidFill>
                <a:latin typeface="Arial"/>
              </a:defRPr>
            </a:pPr>
            <a:r>
              <a:t>•  Separate Corporate Entities: Housing Authority is an independent public body under state law</a:t>
            </a:r>
          </a:p>
          <a:p>
            <a:pPr>
              <a:spcAft>
                <a:spcPts val="800"/>
              </a:spcAft>
              <a:defRPr sz="1400">
                <a:solidFill>
                  <a:srgbClr val="1A1D20"/>
                </a:solidFill>
                <a:latin typeface="Arial"/>
              </a:defRPr>
            </a:pPr>
            <a:r>
              <a:t>•  HHA Board Action: Commissioners decline voluntary transfer of public housing land</a:t>
            </a:r>
          </a:p>
          <a:p>
            <a:pPr>
              <a:spcAft>
                <a:spcPts val="800"/>
              </a:spcAft>
              <a:defRPr sz="1400">
                <a:solidFill>
                  <a:srgbClr val="1A1D20"/>
                </a:solidFill>
                <a:latin typeface="Arial"/>
              </a:defRPr>
            </a:pPr>
            <a:r>
              <a:t>•  Title Complexity: Land encumbered by historic Department of Interior covenants and state rules</a:t>
            </a:r>
          </a:p>
          <a:p>
            <a:pPr>
              <a:spcAft>
                <a:spcPts val="800"/>
              </a:spcAft>
              <a:defRPr sz="1400">
                <a:solidFill>
                  <a:srgbClr val="1A1D20"/>
                </a:solidFill>
                <a:latin typeface="Arial"/>
              </a:defRPr>
            </a:pPr>
            <a:r>
              <a:t>•  Mounting Friction: Selectmen initiate confidential executive session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07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February 2019: The 30-Year Deadline &amp; Lawsuit Vote</a:t>
            </a:r>
          </a:p>
          <a:p>
            <a:pPr>
              <a:spcBef>
                <a:spcPts val="400"/>
              </a:spcBef>
              <a:defRPr sz="1600">
                <a:solidFill>
                  <a:srgbClr val="9E1B32"/>
                </a:solidFill>
                <a:latin typeface="Arial"/>
              </a:defRPr>
            </a:pPr>
            <a:r>
              <a:t>Select Board Votes 3–0 to Sue Housing Authority Nine Days Before Deadline</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The Looming 30-Year Clock</a:t>
            </a:r>
          </a:p>
          <a:p>
            <a:pPr>
              <a:spcAft>
                <a:spcPts val="800"/>
              </a:spcAft>
              <a:defRPr sz="1400">
                <a:solidFill>
                  <a:srgbClr val="1A1D20"/>
                </a:solidFill>
                <a:latin typeface="Arial"/>
              </a:defRPr>
            </a:pPr>
            <a:r>
              <a:t>•  Expiration Date: March 7, 2019 (Exactly 30 years from March 7, 1989 deed execution)</a:t>
            </a:r>
          </a:p>
          <a:p>
            <a:pPr>
              <a:spcAft>
                <a:spcPts val="800"/>
              </a:spcAft>
              <a:defRPr sz="1400">
                <a:solidFill>
                  <a:srgbClr val="1A1D20"/>
                </a:solidFill>
                <a:latin typeface="Arial"/>
              </a:defRPr>
            </a:pPr>
            <a:r>
              <a:t>•  Legal Advice: Town Counsel advises that right of re-entry permanently terminates on day 30</a:t>
            </a:r>
          </a:p>
          <a:p>
            <a:pPr>
              <a:spcAft>
                <a:spcPts val="800"/>
              </a:spcAft>
              <a:defRPr sz="1400">
                <a:solidFill>
                  <a:srgbClr val="1A1D20"/>
                </a:solidFill>
                <a:latin typeface="Arial"/>
              </a:defRPr>
            </a:pPr>
            <a:r>
              <a:t>•  Emergency Executive Session: February 26, 2019 at 6:45 PM (Nine days before deadline)</a:t>
            </a:r>
          </a:p>
          <a:p>
            <a:pPr>
              <a:spcAft>
                <a:spcPts val="800"/>
              </a:spcAft>
              <a:defRPr sz="1400">
                <a:solidFill>
                  <a:srgbClr val="1A1D20"/>
                </a:solidFill>
                <a:latin typeface="Arial"/>
              </a:defRPr>
            </a:pPr>
            <a:r>
              <a:t>•  Public Reconvening: Board returns to open session at 7:00 PM</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The Unanimous Litigation Vote</a:t>
            </a:r>
          </a:p>
          <a:p>
            <a:pPr>
              <a:spcAft>
                <a:spcPts val="800"/>
              </a:spcAft>
              <a:defRPr sz="1400">
                <a:solidFill>
                  <a:srgbClr val="1A1D20"/>
                </a:solidFill>
                <a:latin typeface="Arial"/>
              </a:defRPr>
            </a:pPr>
            <a:r>
              <a:t>•  Roster: Paul Healey (Chair), Karen Johnson (Selectman), Mary Power (Selectman)</a:t>
            </a:r>
          </a:p>
          <a:p>
            <a:pPr>
              <a:spcAft>
                <a:spcPts val="800"/>
              </a:spcAft>
              <a:defRPr sz="1400">
                <a:solidFill>
                  <a:srgbClr val="1A1D20"/>
                </a:solidFill>
                <a:latin typeface="Arial"/>
              </a:defRPr>
            </a:pPr>
            <a:r>
              <a:t>•  Motion: Chair Healey moves to file litigation regarding enforcement of agreement at 100 Beal</a:t>
            </a:r>
          </a:p>
          <a:p>
            <a:pPr>
              <a:spcAft>
                <a:spcPts val="800"/>
              </a:spcAft>
              <a:defRPr sz="1400">
                <a:solidFill>
                  <a:srgbClr val="1A1D20"/>
                </a:solidFill>
                <a:latin typeface="Arial"/>
              </a:defRPr>
            </a:pPr>
            <a:r>
              <a:t>•  Second: Seconded by Selectman Karen Johnson</a:t>
            </a:r>
          </a:p>
          <a:p>
            <a:pPr>
              <a:spcAft>
                <a:spcPts val="800"/>
              </a:spcAft>
              <a:defRPr sz="1400">
                <a:solidFill>
                  <a:srgbClr val="1A1D20"/>
                </a:solidFill>
                <a:latin typeface="Arial"/>
              </a:defRPr>
            </a:pPr>
            <a:r>
              <a:t>•  Vote Tally: Passed 3–0 unanimous; Town formally authorizes lawsuit against HHA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08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June 2019: The Surrender Under Litigation Threat</a:t>
            </a:r>
          </a:p>
          <a:p>
            <a:pPr>
              <a:spcBef>
                <a:spcPts val="400"/>
              </a:spcBef>
              <a:defRPr sz="1600">
                <a:solidFill>
                  <a:srgbClr val="9E1B32"/>
                </a:solidFill>
                <a:latin typeface="Arial"/>
              </a:defRPr>
            </a:pPr>
            <a:r>
              <a:t>Housing Authority Initially Votes to Transfer 19 Acres to Town Hall</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Confrontation at 30 Thaxter Street</a:t>
            </a:r>
          </a:p>
          <a:p>
            <a:pPr>
              <a:spcAft>
                <a:spcPts val="800"/>
              </a:spcAft>
              <a:defRPr sz="1400">
                <a:solidFill>
                  <a:srgbClr val="1A1D20"/>
                </a:solidFill>
                <a:latin typeface="Arial"/>
              </a:defRPr>
            </a:pPr>
            <a:r>
              <a:t>•  Emergency Meeting: June 5, 2019 Special Meeting of HHA Board of Commissioners</a:t>
            </a:r>
          </a:p>
          <a:p>
            <a:pPr>
              <a:spcAft>
                <a:spcPts val="800"/>
              </a:spcAft>
              <a:defRPr sz="1400">
                <a:solidFill>
                  <a:srgbClr val="1A1D20"/>
                </a:solidFill>
                <a:latin typeface="Arial"/>
              </a:defRPr>
            </a:pPr>
            <a:r>
              <a:t>•  Litigation Pressure: Threat of imminent Town lawsuit creating severe legal liabilities</a:t>
            </a:r>
          </a:p>
          <a:p>
            <a:pPr>
              <a:spcAft>
                <a:spcPts val="800"/>
              </a:spcAft>
              <a:defRPr sz="1400">
                <a:solidFill>
                  <a:srgbClr val="1A1D20"/>
                </a:solidFill>
                <a:latin typeface="Arial"/>
              </a:defRPr>
            </a:pPr>
            <a:r>
              <a:t>•  Board Action: HHA commissioners vote to approve transferring ~19 acres back to Town</a:t>
            </a:r>
          </a:p>
          <a:p>
            <a:pPr>
              <a:spcAft>
                <a:spcPts val="800"/>
              </a:spcAft>
              <a:defRPr sz="1400">
                <a:solidFill>
                  <a:srgbClr val="1A1D20"/>
                </a:solidFill>
                <a:latin typeface="Arial"/>
              </a:defRPr>
            </a:pPr>
            <a:r>
              <a:t>•  Scope: Included Lot 2 surplus acreage and adjacent Town-associated parcel</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The Legal Fragility of the Vote</a:t>
            </a:r>
          </a:p>
          <a:p>
            <a:pPr>
              <a:spcAft>
                <a:spcPts val="800"/>
              </a:spcAft>
              <a:defRPr sz="1400">
                <a:solidFill>
                  <a:srgbClr val="1A1D20"/>
                </a:solidFill>
                <a:latin typeface="Arial"/>
              </a:defRPr>
            </a:pPr>
            <a:r>
              <a:t>•  Superficial Settlement: To casual observers, the land dispute appeared resolved</a:t>
            </a:r>
          </a:p>
          <a:p>
            <a:pPr>
              <a:spcAft>
                <a:spcPts val="800"/>
              </a:spcAft>
              <a:defRPr sz="1400">
                <a:solidFill>
                  <a:srgbClr val="1A1D20"/>
                </a:solidFill>
                <a:latin typeface="Arial"/>
              </a:defRPr>
            </a:pPr>
            <a:r>
              <a:t>•  Statutory Reality: Housing Authorities cannot convey public housing property unilaterally</a:t>
            </a:r>
          </a:p>
          <a:p>
            <a:pPr>
              <a:spcAft>
                <a:spcPts val="800"/>
              </a:spcAft>
              <a:defRPr sz="1400">
                <a:solidFill>
                  <a:srgbClr val="1A1D20"/>
                </a:solidFill>
                <a:latin typeface="Arial"/>
              </a:defRPr>
            </a:pPr>
            <a:r>
              <a:t>•  State Jurisdiction: Commonwealth Chapter 689 funding triggered mandatory state review</a:t>
            </a:r>
          </a:p>
          <a:p>
            <a:pPr>
              <a:spcAft>
                <a:spcPts val="800"/>
              </a:spcAft>
              <a:defRPr sz="1400">
                <a:solidFill>
                  <a:srgbClr val="1A1D20"/>
                </a:solidFill>
                <a:latin typeface="Arial"/>
              </a:defRPr>
            </a:pPr>
            <a:r>
              <a:t>•  Pending Intervention: State oversight agencies stepped in to halt the transfer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09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Summer 2019: The State Steps In</a:t>
            </a:r>
          </a:p>
          <a:p>
            <a:pPr>
              <a:spcBef>
                <a:spcPts val="400"/>
              </a:spcBef>
              <a:defRPr sz="1600">
                <a:solidFill>
                  <a:srgbClr val="9E1B32"/>
                </a:solidFill>
                <a:latin typeface="Arial"/>
              </a:defRPr>
            </a:pPr>
            <a:r>
              <a:t>Massachusetts DHCD Enforces Statutory Protections on Public Housing Land</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Independent Statutory Entity</a:t>
            </a:r>
          </a:p>
          <a:p>
            <a:pPr>
              <a:spcAft>
                <a:spcPts val="800"/>
              </a:spcAft>
              <a:defRPr sz="1400">
                <a:solidFill>
                  <a:srgbClr val="1A1D20"/>
                </a:solidFill>
                <a:latin typeface="Arial"/>
              </a:defRPr>
            </a:pPr>
            <a:r>
              <a:t>•  Governing Law: Massachusetts General Laws Chapter 121B (Housing and Urban Renewal)</a:t>
            </a:r>
          </a:p>
          <a:p>
            <a:pPr>
              <a:spcAft>
                <a:spcPts val="800"/>
              </a:spcAft>
              <a:defRPr sz="1400">
                <a:solidFill>
                  <a:srgbClr val="1A1D20"/>
                </a:solidFill>
                <a:latin typeface="Arial"/>
              </a:defRPr>
            </a:pPr>
            <a:r>
              <a:t>•  Corporate Independence: Housing Authorities are independent public corporations, not Town departments</a:t>
            </a:r>
          </a:p>
          <a:p>
            <a:pPr>
              <a:spcAft>
                <a:spcPts val="800"/>
              </a:spcAft>
              <a:defRPr sz="1400">
                <a:solidFill>
                  <a:srgbClr val="1A1D20"/>
                </a:solidFill>
                <a:latin typeface="Arial"/>
              </a:defRPr>
            </a:pPr>
            <a:r>
              <a:t>•  Municipal Separation: Board of Selectmen has zero statutory authority to direct HHA real estate</a:t>
            </a:r>
          </a:p>
          <a:p>
            <a:pPr>
              <a:spcAft>
                <a:spcPts val="800"/>
              </a:spcAft>
              <a:defRPr sz="1400">
                <a:solidFill>
                  <a:srgbClr val="1A1D20"/>
                </a:solidFill>
                <a:latin typeface="Arial"/>
              </a:defRPr>
            </a:pPr>
            <a:r>
              <a:t>•  Public Purpose: Real estate must remain dedicated to low-income housing needs</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Statutory Prohibition: M.G.L. c. 121B, § 34</a:t>
            </a:r>
          </a:p>
          <a:p>
            <a:pPr>
              <a:spcAft>
                <a:spcPts val="800"/>
              </a:spcAft>
              <a:defRPr sz="1400">
                <a:solidFill>
                  <a:srgbClr val="1A1D20"/>
                </a:solidFill>
                <a:latin typeface="Arial"/>
              </a:defRPr>
            </a:pPr>
            <a:r>
              <a:t>•  State Regulator: Massachusetts DHCD (Associate Director Amy Stitely)</a:t>
            </a:r>
          </a:p>
          <a:p>
            <a:pPr>
              <a:spcAft>
                <a:spcPts val="800"/>
              </a:spcAft>
              <a:defRPr sz="1400">
                <a:solidFill>
                  <a:srgbClr val="1A1D20"/>
                </a:solidFill>
                <a:latin typeface="Arial"/>
              </a:defRPr>
            </a:pPr>
            <a:r>
              <a:t>•  Supervisory Letters: Issued April 19 and June 26, 2019 to HHA and Town Counsel</a:t>
            </a:r>
          </a:p>
          <a:p>
            <a:pPr>
              <a:spcAft>
                <a:spcPts val="800"/>
              </a:spcAft>
              <a:defRPr sz="1400">
                <a:solidFill>
                  <a:srgbClr val="1A1D20"/>
                </a:solidFill>
                <a:latin typeface="Arial"/>
              </a:defRPr>
            </a:pPr>
            <a:r>
              <a:t>•  Statutory Bar: Real estate assisted with state funds cannot be sold or transferred without written state approval</a:t>
            </a:r>
          </a:p>
          <a:p>
            <a:pPr>
              <a:spcAft>
                <a:spcPts val="800"/>
              </a:spcAft>
              <a:defRPr sz="1400">
                <a:solidFill>
                  <a:srgbClr val="1A1D20"/>
                </a:solidFill>
                <a:latin typeface="Arial"/>
              </a:defRPr>
            </a:pPr>
            <a:r>
              <a:t>•  Determination: DHCD formally refuses to consent to municipal conveyance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10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July 2019: The Legal Lock on Title</a:t>
            </a:r>
          </a:p>
          <a:p>
            <a:pPr>
              <a:spcBef>
                <a:spcPts val="400"/>
              </a:spcBef>
              <a:defRPr sz="1600">
                <a:solidFill>
                  <a:srgbClr val="9E1B32"/>
                </a:solidFill>
                <a:latin typeface="Arial"/>
              </a:defRPr>
            </a:pPr>
            <a:r>
              <a:t>Commonwealth Records Notice of Statutory Transfer Restriction</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Recorded Title Encumbrance</a:t>
            </a:r>
          </a:p>
          <a:p>
            <a:pPr>
              <a:spcAft>
                <a:spcPts val="800"/>
              </a:spcAft>
              <a:defRPr sz="1400">
                <a:solidFill>
                  <a:srgbClr val="1A1D20"/>
                </a:solidFill>
                <a:latin typeface="Arial"/>
              </a:defRPr>
            </a:pPr>
            <a:r>
              <a:t>•  Recording Date: July 18, 2019 at 1:44 PM</a:t>
            </a:r>
          </a:p>
          <a:p>
            <a:pPr>
              <a:spcAft>
                <a:spcPts val="800"/>
              </a:spcAft>
              <a:defRPr sz="1400">
                <a:solidFill>
                  <a:srgbClr val="1A1D20"/>
                </a:solidFill>
                <a:latin typeface="Arial"/>
              </a:defRPr>
            </a:pPr>
            <a:r>
              <a:t>•  Citation: Plymouth County Registry of Deeds, Book 51379, Page 244 (Document No. 55967)</a:t>
            </a:r>
          </a:p>
          <a:p>
            <a:pPr>
              <a:spcAft>
                <a:spcPts val="800"/>
              </a:spcAft>
              <a:defRPr sz="1400">
                <a:solidFill>
                  <a:srgbClr val="1A1D20"/>
                </a:solidFill>
                <a:latin typeface="Arial"/>
              </a:defRPr>
            </a:pPr>
            <a:r>
              <a:t>•  Regulator: Commonwealth of Massachusetts Department of Housing &amp; Community Development</a:t>
            </a:r>
          </a:p>
          <a:p>
            <a:pPr>
              <a:spcAft>
                <a:spcPts val="800"/>
              </a:spcAft>
              <a:defRPr sz="1400">
                <a:solidFill>
                  <a:srgbClr val="1A1D20"/>
                </a:solidFill>
                <a:latin typeface="Arial"/>
              </a:defRPr>
            </a:pPr>
            <a:r>
              <a:t>•  Subject Property: Assessor Map 58, Block 0, Lot 23 (100 Beal Street)</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Operational Effect on Title</a:t>
            </a:r>
          </a:p>
          <a:p>
            <a:pPr>
              <a:spcAft>
                <a:spcPts val="800"/>
              </a:spcAft>
              <a:defRPr sz="1400">
                <a:solidFill>
                  <a:srgbClr val="1A1D20"/>
                </a:solidFill>
                <a:latin typeface="Arial"/>
              </a:defRPr>
            </a:pPr>
            <a:r>
              <a:t>•  Statutory Weapon: Cites M.G.L. c. 121B, § 34 directly on the public land title</a:t>
            </a:r>
          </a:p>
          <a:p>
            <a:pPr>
              <a:spcAft>
                <a:spcPts val="800"/>
              </a:spcAft>
              <a:defRPr sz="1400">
                <a:solidFill>
                  <a:srgbClr val="1A1D20"/>
                </a:solidFill>
                <a:latin typeface="Arial"/>
              </a:defRPr>
            </a:pPr>
            <a:r>
              <a:t>•  Conveyance Void: Any deed executed without DHCD written approval is void as a matter of law</a:t>
            </a:r>
          </a:p>
          <a:p>
            <a:pPr>
              <a:spcAft>
                <a:spcPts val="800"/>
              </a:spcAft>
              <a:defRPr sz="1400">
                <a:solidFill>
                  <a:srgbClr val="1A1D20"/>
                </a:solidFill>
                <a:latin typeface="Arial"/>
              </a:defRPr>
            </a:pPr>
            <a:r>
              <a:t>•  ALTA Survey Note: Formally identified as Schedule B, Item 5 encumbrance on 2024 boundary survey</a:t>
            </a:r>
          </a:p>
          <a:p>
            <a:pPr>
              <a:spcAft>
                <a:spcPts val="800"/>
              </a:spcAft>
              <a:defRPr sz="1400">
                <a:solidFill>
                  <a:srgbClr val="1A1D20"/>
                </a:solidFill>
                <a:latin typeface="Arial"/>
              </a:defRPr>
            </a:pPr>
            <a:r>
              <a:t>•  Permanent Lock: Ensured parcel could never be repurposed away from public housing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11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September 2021: The Unanimous Rescission Vote</a:t>
            </a:r>
          </a:p>
          <a:p>
            <a:pPr>
              <a:spcBef>
                <a:spcPts val="400"/>
              </a:spcBef>
              <a:defRPr sz="1600">
                <a:solidFill>
                  <a:srgbClr val="9E1B32"/>
                </a:solidFill>
                <a:latin typeface="Arial"/>
              </a:defRPr>
            </a:pPr>
            <a:r>
              <a:t>Housing Authority Formally Cancels 2019 Transfer Motion</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The Rescission Motion</a:t>
            </a:r>
          </a:p>
          <a:p>
            <a:pPr>
              <a:spcAft>
                <a:spcPts val="800"/>
              </a:spcAft>
              <a:defRPr sz="1400">
                <a:solidFill>
                  <a:srgbClr val="1A1D20"/>
                </a:solidFill>
                <a:latin typeface="Arial"/>
              </a:defRPr>
            </a:pPr>
            <a:r>
              <a:t>•  Meeting: September 7, 2021 Regular Meeting at 30 Thaxter Street</a:t>
            </a:r>
          </a:p>
          <a:p>
            <a:pPr>
              <a:spcAft>
                <a:spcPts val="800"/>
              </a:spcAft>
              <a:defRPr sz="1400">
                <a:solidFill>
                  <a:srgbClr val="1A1D20"/>
                </a:solidFill>
                <a:latin typeface="Arial"/>
              </a:defRPr>
            </a:pPr>
            <a:r>
              <a:t>•  Maker &amp; Second: Moved by Commissioner O'Meara, seconded by Commissioner Lauter</a:t>
            </a:r>
          </a:p>
          <a:p>
            <a:pPr>
              <a:spcAft>
                <a:spcPts val="800"/>
              </a:spcAft>
              <a:defRPr sz="1400">
                <a:solidFill>
                  <a:srgbClr val="1A1D20"/>
                </a:solidFill>
                <a:latin typeface="Arial"/>
              </a:defRPr>
            </a:pPr>
            <a:r>
              <a:t>•  Substance: Formally rescinds the June 5, 2019 motion transferring ~19 acres to Town</a:t>
            </a:r>
          </a:p>
          <a:p>
            <a:pPr>
              <a:spcAft>
                <a:spcPts val="800"/>
              </a:spcAft>
              <a:defRPr sz="1400">
                <a:solidFill>
                  <a:srgbClr val="1A1D20"/>
                </a:solidFill>
                <a:latin typeface="Arial"/>
              </a:defRPr>
            </a:pPr>
            <a:r>
              <a:t>•  Legal Grounding: Backed by formal DHCD correspondence and municipal counsel opinions</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The 4–0 Unanimous Roll Call</a:t>
            </a:r>
          </a:p>
          <a:p>
            <a:pPr>
              <a:spcAft>
                <a:spcPts val="800"/>
              </a:spcAft>
              <a:defRPr sz="1400">
                <a:solidFill>
                  <a:srgbClr val="1A1D20"/>
                </a:solidFill>
                <a:latin typeface="Arial"/>
              </a:defRPr>
            </a:pPr>
            <a:r>
              <a:t>•  Roll Call Vote: Commissioners Suchecki, O'Meara, Lauter, Buhr all vote in favor</a:t>
            </a:r>
          </a:p>
          <a:p>
            <a:pPr>
              <a:spcAft>
                <a:spcPts val="800"/>
              </a:spcAft>
              <a:defRPr sz="1400">
                <a:solidFill>
                  <a:srgbClr val="1A1D20"/>
                </a:solidFill>
                <a:latin typeface="Arial"/>
              </a:defRPr>
            </a:pPr>
            <a:r>
              <a:t>•  Certified Minute Text: 'The Motion was passed on a 4-0 vote. That Motion is now rescinded'</a:t>
            </a:r>
          </a:p>
          <a:p>
            <a:pPr>
              <a:spcAft>
                <a:spcPts val="800"/>
              </a:spcAft>
              <a:defRPr sz="1400">
                <a:solidFill>
                  <a:srgbClr val="1A1D20"/>
                </a:solidFill>
                <a:latin typeface="Arial"/>
              </a:defRPr>
            </a:pPr>
            <a:r>
              <a:t>•  Title Affirmation: Parcel declared to remain in sole ownership of HHA for affordable housing</a:t>
            </a:r>
          </a:p>
          <a:p>
            <a:pPr>
              <a:spcAft>
                <a:spcPts val="800"/>
              </a:spcAft>
              <a:defRPr sz="1400">
                <a:solidFill>
                  <a:srgbClr val="1A1D20"/>
                </a:solidFill>
                <a:latin typeface="Arial"/>
              </a:defRPr>
            </a:pPr>
            <a:r>
              <a:t>•  Definitive Close: Put an end to Town Hall's attempted municipal recapture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12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December 2024: Verified Environmental Stewardship</a:t>
            </a:r>
          </a:p>
          <a:p>
            <a:pPr>
              <a:spcBef>
                <a:spcPts val="400"/>
              </a:spcBef>
              <a:defRPr sz="1600">
                <a:solidFill>
                  <a:srgbClr val="9E1B32"/>
                </a:solidFill>
                <a:latin typeface="Arial"/>
              </a:defRPr>
            </a:pPr>
            <a:r>
              <a:t>Conservation Commission Records MassDEP ORAD Protecting Tucker's Swamp</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MassDEP File No. 034-1509</a:t>
            </a:r>
          </a:p>
          <a:p>
            <a:pPr>
              <a:spcAft>
                <a:spcPts val="800"/>
              </a:spcAft>
              <a:defRPr sz="1400">
                <a:solidFill>
                  <a:srgbClr val="1A1D20"/>
                </a:solidFill>
                <a:latin typeface="Arial"/>
              </a:defRPr>
            </a:pPr>
            <a:r>
              <a:t>•  Application: Abbreviated Notice of Resource Area Delineation (ANRAD) for 100 Beal Street</a:t>
            </a:r>
          </a:p>
          <a:p>
            <a:pPr>
              <a:spcAft>
                <a:spcPts val="800"/>
              </a:spcAft>
              <a:defRPr sz="1400">
                <a:solidFill>
                  <a:srgbClr val="1A1D20"/>
                </a:solidFill>
                <a:latin typeface="Arial"/>
              </a:defRPr>
            </a:pPr>
            <a:r>
              <a:t>•  Hearing Date: November 4, 2024 before Hingham Conservation Commission</a:t>
            </a:r>
          </a:p>
          <a:p>
            <a:pPr>
              <a:spcAft>
                <a:spcPts val="800"/>
              </a:spcAft>
              <a:defRPr sz="1400">
                <a:solidFill>
                  <a:srgbClr val="1A1D20"/>
                </a:solidFill>
                <a:latin typeface="Arial"/>
              </a:defRPr>
            </a:pPr>
            <a:r>
              <a:t>•  Vote Result: Passed 5–0 unanimous (Nielsen, Mosher, Roby, Villanova, Freeman)</a:t>
            </a:r>
          </a:p>
          <a:p>
            <a:pPr>
              <a:spcAft>
                <a:spcPts val="800"/>
              </a:spcAft>
              <a:defRPr sz="1400">
                <a:solidFill>
                  <a:srgbClr val="1A1D20"/>
                </a:solidFill>
                <a:latin typeface="Arial"/>
              </a:defRPr>
            </a:pPr>
            <a:r>
              <a:t>•  Recorded Instrument: Plymouth Registry Book 59527, Page 273 (Doc #78968, Dec 10, 2024)</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155+ Verified Wetland Flags &amp; Buffer Protection</a:t>
            </a:r>
          </a:p>
          <a:p>
            <a:pPr>
              <a:spcAft>
                <a:spcPts val="800"/>
              </a:spcAft>
              <a:defRPr sz="1400">
                <a:solidFill>
                  <a:srgbClr val="1A1D20"/>
                </a:solidFill>
                <a:latin typeface="Arial"/>
              </a:defRPr>
            </a:pPr>
            <a:r>
              <a:t>•  Delineation Expert: Christopher Lucas, PWS/PSS (Lucas Environmental, LLC)</a:t>
            </a:r>
          </a:p>
          <a:p>
            <a:pPr>
              <a:spcAft>
                <a:spcPts val="800"/>
              </a:spcAft>
              <a:defRPr sz="1400">
                <a:solidFill>
                  <a:srgbClr val="1A1D20"/>
                </a:solidFill>
                <a:latin typeface="Arial"/>
              </a:defRPr>
            </a:pPr>
            <a:r>
              <a:t>•  Protected Resources: 3 Bordering Vegetated Wetlands, 2 Isolated Wetlands, confirmed vernal pool</a:t>
            </a:r>
          </a:p>
          <a:p>
            <a:pPr>
              <a:spcAft>
                <a:spcPts val="800"/>
              </a:spcAft>
              <a:defRPr sz="1400">
                <a:solidFill>
                  <a:srgbClr val="1A1D20"/>
                </a:solidFill>
                <a:latin typeface="Arial"/>
              </a:defRPr>
            </a:pPr>
            <a:r>
              <a:t>•  Watershed Shield: Establishes permanent protective buffers for Tucker's Swamp and Back River ACEC</a:t>
            </a:r>
          </a:p>
          <a:p>
            <a:pPr>
              <a:spcAft>
                <a:spcPts val="800"/>
              </a:spcAft>
              <a:defRPr sz="1400">
                <a:solidFill>
                  <a:srgbClr val="1A1D20"/>
                </a:solidFill>
                <a:latin typeface="Arial"/>
              </a:defRPr>
            </a:pPr>
            <a:r>
              <a:t>•  Upland Verification: Proves Lot B contains high, dry, fully buildable plateau outside buffer zones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13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August 2025: Peabody Properties Awarded Project</a:t>
            </a:r>
          </a:p>
          <a:p>
            <a:pPr>
              <a:spcBef>
                <a:spcPts val="400"/>
              </a:spcBef>
              <a:defRPr sz="1600">
                <a:solidFill>
                  <a:srgbClr val="9E1B32"/>
                </a:solidFill>
                <a:latin typeface="Arial"/>
              </a:defRPr>
            </a:pPr>
            <a:r>
              <a:t>68 Senior Rental Apartments Under a 99-Year Ground Lease</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Public Procurement &amp; Selection</a:t>
            </a:r>
          </a:p>
          <a:p>
            <a:pPr>
              <a:spcAft>
                <a:spcPts val="800"/>
              </a:spcAft>
              <a:defRPr sz="1400">
                <a:solidFill>
                  <a:srgbClr val="1A1D20"/>
                </a:solidFill>
                <a:latin typeface="Arial"/>
              </a:defRPr>
            </a:pPr>
            <a:r>
              <a:t>•  Procurement Solicitation: 155-Page RFP issued April 16, 2025 under M.G.L. c. 30B</a:t>
            </a:r>
          </a:p>
          <a:p>
            <a:pPr>
              <a:spcAft>
                <a:spcPts val="800"/>
              </a:spcAft>
              <a:defRPr sz="1400">
                <a:solidFill>
                  <a:srgbClr val="1A1D20"/>
                </a:solidFill>
                <a:latin typeface="Arial"/>
              </a:defRPr>
            </a:pPr>
            <a:r>
              <a:t>•  Selection Vote: August 12, 2025 HHA meeting; passed 4–0 unanimous (Lauter, Weiser, O'Meara, Suchecki)</a:t>
            </a:r>
          </a:p>
          <a:p>
            <a:pPr>
              <a:spcAft>
                <a:spcPts val="800"/>
              </a:spcAft>
              <a:defRPr sz="1400">
                <a:solidFill>
                  <a:srgbClr val="1A1D20"/>
                </a:solidFill>
                <a:latin typeface="Arial"/>
              </a:defRPr>
            </a:pPr>
            <a:r>
              <a:t>•  Designated Developer: Peabody Properties / Affordable Housing Services Corp. (AHSC)</a:t>
            </a:r>
          </a:p>
          <a:p>
            <a:pPr>
              <a:spcAft>
                <a:spcPts val="800"/>
              </a:spcAft>
              <a:defRPr sz="1400">
                <a:solidFill>
                  <a:srgbClr val="1A1D20"/>
                </a:solidFill>
                <a:latin typeface="Arial"/>
              </a:defRPr>
            </a:pPr>
            <a:r>
              <a:t>•  Development Scope: 68 One- and Two-Bedroom Rental Apartments for Seniors 62+</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Financial &amp; Leasehold Structure</a:t>
            </a:r>
          </a:p>
          <a:p>
            <a:pPr>
              <a:spcAft>
                <a:spcPts val="800"/>
              </a:spcAft>
              <a:defRPr sz="1400">
                <a:solidFill>
                  <a:srgbClr val="1A1D20"/>
                </a:solidFill>
                <a:latin typeface="Arial"/>
              </a:defRPr>
            </a:pPr>
            <a:r>
              <a:t>•  99-Year Ground Lease: Land ownership remains permanently with Hingham Housing Authority</a:t>
            </a:r>
          </a:p>
          <a:p>
            <a:pPr>
              <a:spcAft>
                <a:spcPts val="800"/>
              </a:spcAft>
              <a:defRPr sz="1400">
                <a:solidFill>
                  <a:srgbClr val="1A1D20"/>
                </a:solidFill>
                <a:latin typeface="Arial"/>
              </a:defRPr>
            </a:pPr>
            <a:r>
              <a:t>•  Upfront Leasehold Consideration: Developer pays $500,000 upfront fee to Housing Authority</a:t>
            </a:r>
          </a:p>
          <a:p>
            <a:pPr>
              <a:spcAft>
                <a:spcPts val="800"/>
              </a:spcAft>
              <a:defRPr sz="1400">
                <a:solidFill>
                  <a:srgbClr val="1A1D20"/>
                </a:solidFill>
                <a:latin typeface="Arial"/>
              </a:defRPr>
            </a:pPr>
            <a:r>
              <a:t>•  Construction Financing: 100% financed through private equity and state/federal tax credits</a:t>
            </a:r>
          </a:p>
          <a:p>
            <a:pPr>
              <a:spcAft>
                <a:spcPts val="800"/>
              </a:spcAft>
              <a:defRPr sz="1400">
                <a:solidFill>
                  <a:srgbClr val="1A1D20"/>
                </a:solidFill>
                <a:latin typeface="Arial"/>
              </a:defRPr>
            </a:pPr>
            <a:r>
              <a:t>•  Municipal Financial Impact: Exactly $0 in Town Debt or Municipal Taxpayer Borrowing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14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Architectural Vision: Modest, Sustainable &amp; Senior-Focused</a:t>
            </a:r>
          </a:p>
          <a:p>
            <a:pPr>
              <a:spcBef>
                <a:spcPts val="400"/>
              </a:spcBef>
              <a:defRPr sz="1600">
                <a:solidFill>
                  <a:srgbClr val="9E1B32"/>
                </a:solidFill>
                <a:latin typeface="Arial"/>
              </a:defRPr>
            </a:pPr>
            <a:r>
              <a:t>Universal Design, Internal Courtyard, and Low-Impact Civil Engineering</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Senior-Centric Architecture</a:t>
            </a:r>
          </a:p>
          <a:p>
            <a:pPr>
              <a:spcAft>
                <a:spcPts val="800"/>
              </a:spcAft>
              <a:defRPr sz="1400">
                <a:solidFill>
                  <a:srgbClr val="1A1D20"/>
                </a:solidFill>
                <a:latin typeface="Arial"/>
              </a:defRPr>
            </a:pPr>
            <a:r>
              <a:t>•  Design Team: Weston &amp; Sampson architects and engineers</a:t>
            </a:r>
          </a:p>
          <a:p>
            <a:pPr>
              <a:spcAft>
                <a:spcPts val="800"/>
              </a:spcAft>
              <a:defRPr sz="1400">
                <a:solidFill>
                  <a:srgbClr val="1A1D20"/>
                </a:solidFill>
                <a:latin typeface="Arial"/>
              </a:defRPr>
            </a:pPr>
            <a:r>
              <a:t>•  Building Scale: Modest 3-story wood-frame design harmonizing with residential neighborhood</a:t>
            </a:r>
          </a:p>
          <a:p>
            <a:pPr>
              <a:spcAft>
                <a:spcPts val="800"/>
              </a:spcAft>
              <a:defRPr sz="1400">
                <a:solidFill>
                  <a:srgbClr val="1A1D20"/>
                </a:solidFill>
                <a:latin typeface="Arial"/>
              </a:defRPr>
            </a:pPr>
            <a:r>
              <a:t>•  Universal Accessibility: Step-free access, dual elevators, wide corridors, zero barrier showers</a:t>
            </a:r>
          </a:p>
          <a:p>
            <a:pPr>
              <a:spcAft>
                <a:spcPts val="800"/>
              </a:spcAft>
              <a:defRPr sz="1400">
                <a:solidFill>
                  <a:srgbClr val="1A1D20"/>
                </a:solidFill>
                <a:latin typeface="Arial"/>
              </a:defRPr>
            </a:pPr>
            <a:r>
              <a:t>•  Resident Amenities: Multi-purpose community center, wellness exam room, walking paths, gardens</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Civil &amp; Environmental Engineering</a:t>
            </a:r>
          </a:p>
          <a:p>
            <a:pPr>
              <a:spcAft>
                <a:spcPts val="800"/>
              </a:spcAft>
              <a:defRPr sz="1400">
                <a:solidFill>
                  <a:srgbClr val="1A1D20"/>
                </a:solidFill>
                <a:latin typeface="Arial"/>
              </a:defRPr>
            </a:pPr>
            <a:r>
              <a:t>•  Stormwater Management: State-of-the-art bioretention basins and rain gardens filtering all runoff</a:t>
            </a:r>
          </a:p>
          <a:p>
            <a:pPr>
              <a:spcAft>
                <a:spcPts val="800"/>
              </a:spcAft>
              <a:defRPr sz="1400">
                <a:solidFill>
                  <a:srgbClr val="1A1D20"/>
                </a:solidFill>
                <a:latin typeface="Arial"/>
              </a:defRPr>
            </a:pPr>
            <a:r>
              <a:t>•  Wetland Protection: Positioned strictly within buildable upland; zero direct wetland disturbance</a:t>
            </a:r>
          </a:p>
          <a:p>
            <a:pPr>
              <a:spcAft>
                <a:spcPts val="800"/>
              </a:spcAft>
              <a:defRPr sz="1400">
                <a:solidFill>
                  <a:srgbClr val="1A1D20"/>
                </a:solidFill>
                <a:latin typeface="Arial"/>
              </a:defRPr>
            </a:pPr>
            <a:r>
              <a:t>•  Vegetative Buffers: 50-foot undisturbed natural tree buffer surrounding the entire perimeter</a:t>
            </a:r>
          </a:p>
          <a:p>
            <a:pPr>
              <a:spcAft>
                <a:spcPts val="800"/>
              </a:spcAft>
              <a:defRPr sz="1400">
                <a:solidFill>
                  <a:srgbClr val="1A1D20"/>
                </a:solidFill>
                <a:latin typeface="Arial"/>
              </a:defRPr>
            </a:pPr>
            <a:r>
              <a:t>•  Sustainability: High-efficiency electric heat pumps and solar-ready structural roof engineering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15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Clearing Up the Town Rumor: CAL vs. 100 Beal Street</a:t>
            </a:r>
          </a:p>
          <a:p>
            <a:pPr>
              <a:spcBef>
                <a:spcPts val="400"/>
              </a:spcBef>
              <a:defRPr sz="1600">
                <a:solidFill>
                  <a:srgbClr val="9E1B32"/>
                </a:solidFill>
                <a:latin typeface="Arial"/>
              </a:defRPr>
            </a:pPr>
            <a:r>
              <a:t>The Defeated Project Was Bare Cove Park CAL; 100 Beal Street Is Fully Active</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Center for Active Living (CAL) [DEFEATED]</a:t>
            </a:r>
          </a:p>
          <a:p>
            <a:pPr>
              <a:spcAft>
                <a:spcPts val="800"/>
              </a:spcAft>
              <a:defRPr sz="1400">
                <a:solidFill>
                  <a:srgbClr val="1A1D20"/>
                </a:solidFill>
                <a:latin typeface="Arial"/>
              </a:defRPr>
            </a:pPr>
            <a:r>
              <a:t>•  Location: Inside Bare Cove Park boundary (Bare Cove Park Drive)</a:t>
            </a:r>
          </a:p>
          <a:p>
            <a:pPr>
              <a:spcAft>
                <a:spcPts val="800"/>
              </a:spcAft>
              <a:defRPr sz="1400">
                <a:solidFill>
                  <a:srgbClr val="1A1D20"/>
                </a:solidFill>
                <a:latin typeface="Arial"/>
              </a:defRPr>
            </a:pPr>
            <a:r>
              <a:t>•  Purpose: Municipal daytime senior activity and recreation facility</a:t>
            </a:r>
          </a:p>
          <a:p>
            <a:pPr>
              <a:spcAft>
                <a:spcPts val="800"/>
              </a:spcAft>
              <a:defRPr sz="1400">
                <a:solidFill>
                  <a:srgbClr val="1A1D20"/>
                </a:solidFill>
                <a:latin typeface="Arial"/>
              </a:defRPr>
            </a:pPr>
            <a:r>
              <a:t>•  Cost to Taxpayers: $29,930,000 Municipal Debt Exclusion Borrowing</a:t>
            </a:r>
          </a:p>
          <a:p>
            <a:pPr>
              <a:spcAft>
                <a:spcPts val="800"/>
              </a:spcAft>
              <a:defRPr sz="1400">
                <a:solidFill>
                  <a:srgbClr val="1A1D20"/>
                </a:solidFill>
                <a:latin typeface="Arial"/>
              </a:defRPr>
            </a:pPr>
            <a:r>
              <a:t>•  Town Meeting Action: April 27, 2026 Warrant Article 12</a:t>
            </a:r>
          </a:p>
          <a:p>
            <a:pPr>
              <a:spcAft>
                <a:spcPts val="800"/>
              </a:spcAft>
              <a:defRPr sz="1400">
                <a:solidFill>
                  <a:srgbClr val="1A1D20"/>
                </a:solidFill>
                <a:latin typeface="Arial"/>
              </a:defRPr>
            </a:pPr>
            <a:r>
              <a:t>•  Vote Result: 510 Yes to 470 No (52% in favor; FAILED 2/3 debt supermajority requirement)</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100 Beal Street Senior Housing [ACTIVE &amp; PERMITTED]</a:t>
            </a:r>
          </a:p>
          <a:p>
            <a:pPr>
              <a:spcAft>
                <a:spcPts val="800"/>
              </a:spcAft>
              <a:defRPr sz="1400">
                <a:solidFill>
                  <a:srgbClr val="1A1D20"/>
                </a:solidFill>
                <a:latin typeface="Arial"/>
              </a:defRPr>
            </a:pPr>
            <a:r>
              <a:t>•  Location: 100 Beal Street (School Tract II Surplus Plateau, Lot B)</a:t>
            </a:r>
          </a:p>
          <a:p>
            <a:pPr>
              <a:spcAft>
                <a:spcPts val="800"/>
              </a:spcAft>
              <a:defRPr sz="1400">
                <a:solidFill>
                  <a:srgbClr val="1A1D20"/>
                </a:solidFill>
                <a:latin typeface="Arial"/>
              </a:defRPr>
            </a:pPr>
            <a:r>
              <a:t>•  Purpose: 68-Unit Permanent Affordable Senior Rental Residences (62+)</a:t>
            </a:r>
          </a:p>
          <a:p>
            <a:pPr>
              <a:spcAft>
                <a:spcPts val="800"/>
              </a:spcAft>
              <a:defRPr sz="1400">
                <a:solidFill>
                  <a:srgbClr val="1A1D20"/>
                </a:solidFill>
                <a:latin typeface="Arial"/>
              </a:defRPr>
            </a:pPr>
            <a:r>
              <a:t>•  Cost to Taxpayers: Exactly $0 in Town Borrowing / $0 Municipal Debt</a:t>
            </a:r>
          </a:p>
          <a:p>
            <a:pPr>
              <a:spcAft>
                <a:spcPts val="800"/>
              </a:spcAft>
              <a:defRPr sz="1400">
                <a:solidFill>
                  <a:srgbClr val="1A1D20"/>
                </a:solidFill>
                <a:latin typeface="Arial"/>
              </a:defRPr>
            </a:pPr>
            <a:r>
              <a:t>•  Town Meeting Action: NEVER voted down or rejected at Town Meeting</a:t>
            </a:r>
          </a:p>
          <a:p>
            <a:pPr>
              <a:spcAft>
                <a:spcPts val="800"/>
              </a:spcAft>
              <a:defRPr sz="1400">
                <a:solidFill>
                  <a:srgbClr val="1A1D20"/>
                </a:solidFill>
                <a:latin typeface="Arial"/>
              </a:defRPr>
            </a:pPr>
            <a:r>
              <a:t>•  Current Legal Status: Active, permitted development proceeding under 99-year ground lease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274320"/>
            <a:ext cx="822960" cy="365760"/>
          </a:xfrm>
          <a:prstGeom prst="roundRect">
            <a:avLst/>
          </a:prstGeom>
          <a:solidFill>
            <a:srgbClr val="0B22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16 / 16</a:t>
            </a:r>
          </a:p>
        </p:txBody>
      </p:sp>
      <p:sp>
        <p:nvSpPr>
          <p:cNvPr id="5" name="TextBox 4"/>
          <p:cNvSpPr txBox="1"/>
          <p:nvPr/>
        </p:nvSpPr>
        <p:spPr>
          <a:xfrm>
            <a:off x="731520" y="274320"/>
            <a:ext cx="10515600" cy="1188720"/>
          </a:xfrm>
          <a:prstGeom prst="rect">
            <a:avLst/>
          </a:prstGeom>
          <a:noFill/>
        </p:spPr>
        <p:txBody>
          <a:bodyPr wrap="square">
            <a:spAutoFit/>
          </a:bodyPr>
          <a:lstStyle/>
          <a:p>
            <a:pPr>
              <a:defRPr b="1" sz="2600">
                <a:solidFill>
                  <a:srgbClr val="0B2265"/>
                </a:solidFill>
                <a:latin typeface="Arial"/>
              </a:defRPr>
            </a:pPr>
            <a:r>
              <a:t>The Horizon: Permitting, Groundbreaking &amp; Legacy</a:t>
            </a:r>
          </a:p>
          <a:p>
            <a:pPr>
              <a:spcBef>
                <a:spcPts val="400"/>
              </a:spcBef>
              <a:defRPr sz="1600">
                <a:solidFill>
                  <a:srgbClr val="9E1B32"/>
                </a:solidFill>
                <a:latin typeface="Arial"/>
              </a:defRPr>
            </a:pPr>
            <a:r>
              <a:t>Comprehensive Permit, Financing Milestones, and Permanent Affordability</a:t>
            </a:r>
          </a:p>
        </p:txBody>
      </p:sp>
      <p:sp>
        <p:nvSpPr>
          <p:cNvPr id="6" name="Rounded Rectangle 5"/>
          <p:cNvSpPr/>
          <p:nvPr/>
        </p:nvSpPr>
        <p:spPr>
          <a:xfrm>
            <a:off x="73152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Development Permitting Milestones</a:t>
            </a:r>
          </a:p>
          <a:p>
            <a:pPr>
              <a:spcAft>
                <a:spcPts val="800"/>
              </a:spcAft>
              <a:defRPr sz="1400">
                <a:solidFill>
                  <a:srgbClr val="1A1D20"/>
                </a:solidFill>
                <a:latin typeface="Arial"/>
              </a:defRPr>
            </a:pPr>
            <a:r>
              <a:t>•  August 2026: Execution of Land Disposition &amp; Development Agreement (LDDA)</a:t>
            </a:r>
          </a:p>
          <a:p>
            <a:pPr>
              <a:spcAft>
                <a:spcPts val="800"/>
              </a:spcAft>
              <a:defRPr sz="1400">
                <a:solidFill>
                  <a:srgbClr val="1A1D20"/>
                </a:solidFill>
                <a:latin typeface="Arial"/>
              </a:defRPr>
            </a:pPr>
            <a:r>
              <a:t>•  Fall 2026–2027: M.G.L. c. 40B Comprehensive Permit review before Hingham Zoning Board</a:t>
            </a:r>
          </a:p>
          <a:p>
            <a:pPr>
              <a:spcAft>
                <a:spcPts val="800"/>
              </a:spcAft>
              <a:defRPr sz="1400">
                <a:solidFill>
                  <a:srgbClr val="1A1D20"/>
                </a:solidFill>
                <a:latin typeface="Arial"/>
              </a:defRPr>
            </a:pPr>
            <a:r>
              <a:t>•  2027: State Affordable Housing Tax Credit Allocation (EOHLC / MassHousing / DHCD)</a:t>
            </a:r>
          </a:p>
          <a:p>
            <a:pPr>
              <a:spcAft>
                <a:spcPts val="800"/>
              </a:spcAft>
              <a:defRPr sz="1400">
                <a:solidFill>
                  <a:srgbClr val="1A1D20"/>
                </a:solidFill>
                <a:latin typeface="Arial"/>
              </a:defRPr>
            </a:pPr>
            <a:r>
              <a:t>•  2028: Groundbreaking on 68 units of permanently affordable senior housing</a:t>
            </a:r>
          </a:p>
        </p:txBody>
      </p:sp>
      <p:sp>
        <p:nvSpPr>
          <p:cNvPr id="7" name="Rounded Rectangle 6"/>
          <p:cNvSpPr/>
          <p:nvPr/>
        </p:nvSpPr>
        <p:spPr>
          <a:xfrm>
            <a:off x="6278270" y="1645920"/>
            <a:ext cx="5180990" cy="44805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b="1" sz="1800">
                <a:solidFill>
                  <a:srgbClr val="0B2265"/>
                </a:solidFill>
                <a:latin typeface="Arial"/>
              </a:defRPr>
            </a:pPr>
            <a:r>
              <a:t>A 37-Year Community Legacy</a:t>
            </a:r>
          </a:p>
          <a:p>
            <a:pPr>
              <a:spcAft>
                <a:spcPts val="800"/>
              </a:spcAft>
              <a:defRPr sz="1400">
                <a:solidFill>
                  <a:srgbClr val="1A1D20"/>
                </a:solidFill>
                <a:latin typeface="Arial"/>
              </a:defRPr>
            </a:pPr>
            <a:r>
              <a:t>•  Living With Dignity: Enables long-time Hingham seniors to remain in the town they built</a:t>
            </a:r>
          </a:p>
          <a:p>
            <a:pPr>
              <a:spcAft>
                <a:spcPts val="800"/>
              </a:spcAft>
              <a:defRPr sz="1400">
                <a:solidFill>
                  <a:srgbClr val="1A1D20"/>
                </a:solidFill>
                <a:latin typeface="Arial"/>
              </a:defRPr>
            </a:pPr>
            <a:r>
              <a:t>•  Veterans Preference: Local housing preference for eligible Hingham military veterans</a:t>
            </a:r>
          </a:p>
          <a:p>
            <a:pPr>
              <a:spcAft>
                <a:spcPts val="800"/>
              </a:spcAft>
              <a:defRPr sz="1400">
                <a:solidFill>
                  <a:srgbClr val="1A1D20"/>
                </a:solidFill>
                <a:latin typeface="Arial"/>
              </a:defRPr>
            </a:pPr>
            <a:r>
              <a:t>•  Permanent Public Ownership: Land remains with Housing Authority for generations to come</a:t>
            </a:r>
          </a:p>
          <a:p>
            <a:pPr>
              <a:spcAft>
                <a:spcPts val="800"/>
              </a:spcAft>
              <a:defRPr sz="1400">
                <a:solidFill>
                  <a:srgbClr val="1A1D20"/>
                </a:solidFill>
                <a:latin typeface="Arial"/>
              </a:defRPr>
            </a:pPr>
            <a:r>
              <a:t>•  Democratic Fulfillment: Honors the supermajority vote cast by Hingham voters in 2006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