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definitive history of 100 Beal Street in Hingham, Massachusetts. Over the past thirty-seven years, this parcel of former Navy ammunition depot land has journeyed through military remediation, an unrecorded deed release, a Town Hall lawsuit vote, decisive state intervention, and an award-winning senior housing design. In this presentation, we walk through the exact documentary record, separating verified legal facts from persistent town rumors.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story begins on April 21st, 1989. The Town of Hingham conveyed a fifteen-acre parcel of surplus Navy depot land known as School Tract II to the independent Hingham Housing Authority for forty-five thousand seven hundred fifty-one dollars. The deed carried a specific restriction: the land was to be used for a residential educational facility for troubled adolescents. Critically, page one hundred sixty stated that if that youth use ever ceased, the Town retained a right of re-entry. However, the deed explicitly dictated that this right of re-entry terminated thirty years from the date of the deed.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Shortly after the conveyance, a twelve-bed group home was constructed on a dedicated two-acre corner of the parcel along Beal Street, funded through the Commonwealth's Chapter 689 specialized housing program. For over thirty-five years, this facility has operated continuously under active state contracts caring for vulnerable youth. Because the facility never ceased operations and was never abandoned, the Town never had legal grounds to trigger a default or claim a re-entry during the entire thirty-year statutory window.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the adolescent home lay thirteen undeveloped acres containing abandoned World War II concrete ammunition bunkers and earth mounds from the old naval depot. In 2001, the Town funded the demolition of the bunkers and cleaned up hazardous materials. The Town and Housing Authority signed a Memorandum of Understanding and recorded Plan one hundred of 2001. This official survey divided the property into two parcels: Lot One, preserving the two-acre adolescent home, and Lot Two, an eight-acre remediated, buildable upland plateau with frontage on Beal Street.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years ago, the citizens of Hingham took decisive action. At the May 2006 Annual Town Meeting, voters considered Warrant Article thirty-eight. By an overwhelming declared two-thirds supermajority, Town Meeting voted to authorize the Board of Selectmen to amend the 1989 deed restriction, explicitly adding affordable senior housing as an allowable use for the surplus plateau. This was a clear democratic mandate to build affordable homes for Hingham seniors. Yet in an extraordinary municipal oversight, Town Hall never actually drafted, executed, or recorded that authorized deed release at the Plymouth County Registry of Deeds.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over a decade, the unrecorded deed release remained unnoticed. But between 2016 and 2017, during due diligence for adjacent parcels on Beal Street, Town Counsel Susan Murphy discovered that the 2006 deed release had never been recorded. Selectman Karen Johnson briefed the Board in public sessions on January 30th and February 13th, 2018, arguing that because the Town had funded the 2001 bunker demolition, the eight acres should belong to the Town. However, the Housing Authority Board declined to surrender the parcel, noting its complex title and statutory public housing mission.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Town Counsel warned the Selectmen that under Massachusetts property law, if the thirty-year window closed without legal action, the Town's right of re-entry would expire forever. On February 26th, 2019—exactly nine days before the deadline—the Select Board met in Executive Session. Returning to Open Session at 7:00 PM, Chairman Paul Healey moved to file litigation against the Hingham Housing Authority to enforce the agreement on 100 Beal Street. Selectman Karen Johnson seconded, and the Board voted three to zero to authorize the lawsuit. Town Hall was prepared to take its own independent Housing Authority to court.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Confronted with the threat of an imminent lawsuit from Town Hall, the Hingham Housing Authority Board of Commissioners held an emergency special meeting on June 5th, 2019. Under intense legal pressure, the commissioners voted to approve a motion agreeing to transfer approximately nineteen acres of Housing Authority property off Beal Street back to municipal control. To outside observers, it appeared Town Hall had won the standoff and that the land was no longer under Housing Authority control. But an unexpected legal force was about to intervene.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Town Hall's victory was short-lived. Under Massachusetts General Laws Chapter 121B, local housing authorities are independent public corporations created by the Legislature, not municipal departments. Furthermore, because state public housing funding had been utilized at the Beal Street site, state law strictly prohibits any housing authority from selling or transferring public housing land without prior written approval from the Commonwealth. Massachusetts DHCD Associate Director Amy Stitely issued formal warnings to both the Housing Authority and Town Counsel, stating plainly that the proposed transfer violated state law and public housing covenants, and would not be approved.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that Town Hall could not execute a transfer behind closed doors, the Commonwealth took decisive action on public land records. On July 18th, 2019, the state recorded a formal Notice of Statutory Transfer Restriction at the Plymouth County Registry of Deeds in Book fifty-one thousand three hundred seventy-nine, Page two hundred forty-four. Citing Chapter 121B, Section 34, this instrument legally encumbers 100 Beal Street. Any deed or transfer executed without the state's signature is void as a matter of law. The land was permanently locked for public affordable housing.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Backed by state regulatory authority and legal counsel, the Hingham Housing Authority Board reconvened on September 7th, 2021, voting four to zero to officially rescind its 2019 transfer motion. This confirmed that fee ownership of the land remained with the Housing Authority under state statutory protection. However, keeping ownership did not erase the 1989 deed restriction from public land records. The original restriction requiring the land to be used for adolescent care still technically encumbered the parcel because Town Hall never recorded the 2006 deed release. In fact, the official 2024 ALTA Title Survey specifically noted that the project still needs a formal release or change of this restriction from the Town of Hingham.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proceeding with architectural designs, the Housing Authority conducted rigorous environmental due diligence. Lucas Environmental delineated 155 wetland flags around Tucker's Swamp and the Weymouth Back River Area of Critical Environmental Concern. On November 4th, 2024, the Hingham Conservation Commission voted unanimously, five to zero, to approve an Order of Resource Area Delineation, recorded at the Registry in Book fifty-nine thousand five hundred twenty-seven, Page two hundred seventy-three. This binding environmental order confirmed that the development plateau on Lot B is high, dry, and completely outside sensitive wetland resource areas, safeguarding our natural waterways.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April 2025, the Housing Authority issued a comprehensive 155-page Request for Proposals under state procurement laws. On August 12th, 2025, the Housing Authority Board voted unanimously, four to zero, to award the development to Peabody Properties and Affordable Housing Services Corporation to build sixty-eight affordable apartments for seniors aged sixty-two and older under a ninety-nine-year ground lease. Under this arrangement, the Housing Authority retains permanent land ownership, receives a five hundred thousand dollar upfront fee, and taxpayers bear zero debt. However, final execution of the ground lease remains contingent upon obtaining state regulatory approvals and formally clearing the outstanding deed restriction through municipal agreement or the Chapter 40B permitting process.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architectural design, created by Weston and Sampson, reflects thoughtful community integration. Rather than an institutional complex, the development features a modest three-story wood-frame building that complements Hingham's residential character. All sixty-eight units are designed with universal accessibility, wide corridors, and step-free access for aging in place. The site plan incorporates a protected central courtyard, community gardens, walking paths, and cutting-edge bioretention stormwater basins that filter rainwater on-site, preserving fifty feet of natural vegetative tree buffers between the residence and adjacent neighborhoods.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single biggest misconception in town: why do so many residents believe Town Meeting killed the senior housing project? The project defeated on April 27th, 2026, was NOT 100 Beal Street. It was the Center for Active Living, or CAL—a separate twenty-nine-point-nine million dollar municipal daytime senior center that the Select Board proposed building inside Bare Cove Park. That project required Town Meeting to approve thirty million dollars in taxpayer borrowing, which failed to achieve the necessary two-thirds debt supermajority. Because both projects involved seniors and both bordered Tucker's Swamp, the community blurred them together. 100 Beal Street requires zero Town debt and was never voted down.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thirty-seven-year history of 100 Beal Street is a story of community evolution—from a World War II ammunition depot to an adolescent care home, through hazardous bunker cleanup, and toward urgently needed senior affordable housing. Today, the Housing Authority holds fee title under state statutory protection, and environmental regulators have confirmed the buildable plateau protects Tucker's Swamp. The final chapter involves resolving the historic deed restriction with the Town—either by executing the release Town Meeting authorized in 2006 or through the Comprehensive Permit process. As this sixty-eight-unit senior residence advances, it represents a path to fulfill a twenty-year community promise without costing Hingham taxpayers a single dollar in municipal debt.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265"/>
          </a:solidFill>
          <a:ln>
            <a:solidFill>
              <a:srgbClr val="0B22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1097280"/>
          </a:xfrm>
          <a:prstGeom prst="rect">
            <a:avLst/>
          </a:prstGeom>
          <a:noFill/>
        </p:spPr>
        <p:txBody>
          <a:bodyPr wrap="square" lIns="0" tIns="0" rIns="0" bIns="0">
            <a:spAutoFit/>
          </a:bodyPr>
          <a:lstStyle/>
          <a:p>
            <a:pPr>
              <a:defRPr sz="4400" b="1">
                <a:solidFill>
                  <a:srgbClr val="FFFFFF"/>
                </a:solidFill>
                <a:latin typeface="Arial"/>
              </a:defRPr>
            </a:pPr>
            <a:r>
              <a:t>100 Beal Street: The 37-Year Journey</a:t>
            </a:r>
          </a:p>
          <a:p>
            <a:pPr>
              <a:spcBef>
                <a:spcPts val="800"/>
              </a:spcBef>
              <a:defRPr sz="2400" b="1">
                <a:solidFill>
                  <a:srgbClr val="D97706"/>
                </a:solidFill>
                <a:latin typeface="Arial"/>
              </a:defRPr>
            </a:pPr>
            <a:r>
              <a:t>From Naval Munitions Bunkers to State-Protected Senior Affordable Housing (1989–2026)</a:t>
            </a:r>
          </a:p>
        </p:txBody>
      </p:sp>
      <p:sp>
        <p:nvSpPr>
          <p:cNvPr id="5" name="Rounded Rectangle 4"/>
          <p:cNvSpPr/>
          <p:nvPr/>
        </p:nvSpPr>
        <p:spPr>
          <a:xfrm>
            <a:off x="1371600" y="2926080"/>
            <a:ext cx="9448495" cy="2926080"/>
          </a:xfrm>
          <a:prstGeom prst="roundRect">
            <a:avLst/>
          </a:prstGeom>
          <a:solidFill>
            <a:srgbClr val="102A73"/>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bIns="365760"/>
          <a:lstStyle/>
          <a:p>
            <a:pPr algn="ctr">
              <a:spcAft>
                <a:spcPts val="1200"/>
              </a:spcAft>
              <a:defRPr sz="2000" b="1">
                <a:solidFill>
                  <a:srgbClr val="D97706"/>
                </a:solidFill>
                <a:latin typeface="Arial"/>
              </a:defRPr>
            </a:pPr>
            <a:r>
              <a:t>Project Foundation</a:t>
            </a:r>
          </a:p>
          <a:p>
            <a:pPr>
              <a:spcAft>
                <a:spcPts val="800"/>
              </a:spcAft>
              <a:defRPr sz="1400">
                <a:solidFill>
                  <a:srgbClr val="FFFFFF"/>
                </a:solidFill>
                <a:latin typeface="Arial"/>
              </a:defRPr>
            </a:pPr>
            <a:r>
              <a:t>■  Subject Property: 100 Beal Street, Hingham, MA (School Tract II)</a:t>
            </a:r>
          </a:p>
          <a:p>
            <a:pPr>
              <a:spcAft>
                <a:spcPts val="800"/>
              </a:spcAft>
              <a:defRPr sz="1400">
                <a:solidFill>
                  <a:srgbClr val="FFFFFF"/>
                </a:solidFill>
                <a:latin typeface="Arial"/>
              </a:defRPr>
            </a:pPr>
            <a:r>
              <a:t>■  Record Property Owner: Hingham Housing Authority (Independent State Public Entity)</a:t>
            </a:r>
          </a:p>
          <a:p>
            <a:pPr>
              <a:spcAft>
                <a:spcPts val="800"/>
              </a:spcAft>
              <a:defRPr sz="1400">
                <a:solidFill>
                  <a:srgbClr val="FFFFFF"/>
                </a:solidFill>
                <a:latin typeface="Arial"/>
              </a:defRPr>
            </a:pPr>
            <a:r>
              <a:t>■  Development Scope: 68-Unit Age-Restricted Senior Affordable Rental Community (62+)</a:t>
            </a:r>
          </a:p>
          <a:p>
            <a:pPr>
              <a:spcAft>
                <a:spcPts val="800"/>
              </a:spcAft>
              <a:defRPr sz="1400">
                <a:solidFill>
                  <a:srgbClr val="FFFFFF"/>
                </a:solidFill>
                <a:latin typeface="Arial"/>
              </a:defRPr>
            </a:pPr>
            <a:r>
              <a:t>■  Developer: Peabody Properties / Affordable Housing Services Corp. (99-Year Ground Lease)</a:t>
            </a:r>
          </a:p>
          <a:p>
            <a:pPr>
              <a:spcAft>
                <a:spcPts val="800"/>
              </a:spcAft>
              <a:defRPr sz="1400">
                <a:solidFill>
                  <a:srgbClr val="FFFFFF"/>
                </a:solidFill>
                <a:latin typeface="Arial"/>
              </a:defRPr>
            </a:pPr>
            <a:r>
              <a:t>■  Municipal Financial Impact: Exactly $0 in Town Borrowing or Taxpayer Debt</a:t>
            </a:r>
          </a:p>
        </p:txBody>
      </p:sp>
      <p:sp>
        <p:nvSpPr>
          <p:cNvPr id="6" name="TextBox 5"/>
          <p:cNvSpPr txBox="1"/>
          <p:nvPr/>
        </p:nvSpPr>
        <p:spPr>
          <a:xfrm>
            <a:off x="731520" y="6309360"/>
            <a:ext cx="10698480" cy="365760"/>
          </a:xfrm>
          <a:prstGeom prst="rect">
            <a:avLst/>
          </a:prstGeom>
          <a:noFill/>
        </p:spPr>
        <p:txBody>
          <a:bodyPr wrap="none" lIns="0" tIns="0" rIns="0" bIns="0">
            <a:spAutoFit/>
          </a:bodyPr>
          <a:lstStyle/>
          <a:p>
            <a:pPr>
              <a:defRPr sz="1100">
                <a:solidFill>
                  <a:srgbClr val="FFFFFF"/>
                </a:solidFill>
                <a:latin typeface="Arial"/>
              </a:defRPr>
            </a:pPr>
            <a:r>
              <a:t>100 Beal Street Senior Affordable Housing • Slide 1 of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April 1989: The Deed &amp; The 30-Year Reverter</a:t>
            </a:r>
          </a:p>
          <a:p>
            <a:pPr>
              <a:spcBef>
                <a:spcPts val="800"/>
              </a:spcBef>
              <a:defRPr sz="2000" b="1">
                <a:solidFill>
                  <a:srgbClr val="9E1B32"/>
                </a:solidFill>
                <a:latin typeface="Arial"/>
              </a:defRPr>
            </a:pPr>
            <a:r>
              <a:t>Town Conveys 15.014 Acres of Surplus Military Land to HHA</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Recorded Fee Deed Facts</a:t>
            </a:r>
          </a:p>
          <a:p>
            <a:pPr>
              <a:spcAft>
                <a:spcPts val="1000"/>
              </a:spcAft>
              <a:defRPr sz="1300">
                <a:solidFill>
                  <a:srgbClr val="1A1D20"/>
                </a:solidFill>
                <a:latin typeface="Arial"/>
              </a:defRPr>
            </a:pPr>
            <a:r>
              <a:t>■  Document Date: March 7, 1989 | Recording Date: April 21, 1989</a:t>
            </a:r>
          </a:p>
          <a:p>
            <a:pPr>
              <a:spcAft>
                <a:spcPts val="1000"/>
              </a:spcAft>
              <a:defRPr sz="1300">
                <a:solidFill>
                  <a:srgbClr val="1A1D20"/>
                </a:solidFill>
                <a:latin typeface="Arial"/>
              </a:defRPr>
            </a:pPr>
            <a:r>
              <a:t>■  Registry Citation: Plymouth County Registry of Deeds, Book 09097, Page 158 (Doc #29758)</a:t>
            </a:r>
          </a:p>
          <a:p>
            <a:pPr>
              <a:spcAft>
                <a:spcPts val="1000"/>
              </a:spcAft>
              <a:defRPr sz="1300">
                <a:solidFill>
                  <a:srgbClr val="1A1D20"/>
                </a:solidFill>
                <a:latin typeface="Arial"/>
              </a:defRPr>
            </a:pPr>
            <a:r>
              <a:t>■  Grantor: Inhabitants of the Town of Hingham | Grantee: Hingham Housing Authority</a:t>
            </a:r>
          </a:p>
          <a:p>
            <a:pPr>
              <a:spcAft>
                <a:spcPts val="1000"/>
              </a:spcAft>
              <a:defRPr sz="1300">
                <a:solidFill>
                  <a:srgbClr val="1A1D20"/>
                </a:solidFill>
                <a:latin typeface="Arial"/>
              </a:defRPr>
            </a:pPr>
            <a:r>
              <a:t>■  Stated Consideration: $45,751 for entire 15.014-acre parcel (School Tract II)</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30-Year Reverter Clause (Page 160)</a:t>
            </a:r>
          </a:p>
          <a:p>
            <a:pPr>
              <a:spcAft>
                <a:spcPts val="1000"/>
              </a:spcAft>
              <a:defRPr sz="1300">
                <a:solidFill>
                  <a:srgbClr val="1A1D20"/>
                </a:solidFill>
                <a:latin typeface="Arial"/>
              </a:defRPr>
            </a:pPr>
            <a:r>
              <a:t>■  Use Restriction: Solely for adolescent residential education / group care facility</a:t>
            </a:r>
          </a:p>
          <a:p>
            <a:pPr>
              <a:spcAft>
                <a:spcPts val="1000"/>
              </a:spcAft>
              <a:defRPr sz="1300">
                <a:solidFill>
                  <a:srgbClr val="1A1D20"/>
                </a:solidFill>
                <a:latin typeface="Arial"/>
              </a:defRPr>
            </a:pPr>
            <a:r>
              <a:t>■  Full Parcel Scope: Restriction legally applied to ALL 15.014 acres of School Tract II</a:t>
            </a:r>
          </a:p>
          <a:p>
            <a:pPr>
              <a:spcAft>
                <a:spcPts val="1000"/>
              </a:spcAft>
              <a:defRPr sz="1300">
                <a:solidFill>
                  <a:srgbClr val="1A1D20"/>
                </a:solidFill>
                <a:latin typeface="Arial"/>
              </a:defRPr>
            </a:pPr>
            <a:r>
              <a:t>■  Right of Re-Entry: Town retained right to enter if adolescent care ceased</a:t>
            </a:r>
          </a:p>
          <a:p>
            <a:pPr>
              <a:spcAft>
                <a:spcPts val="1000"/>
              </a:spcAft>
              <a:defRPr sz="1300">
                <a:solidFill>
                  <a:srgbClr val="1A1D20"/>
                </a:solidFill>
                <a:latin typeface="Arial"/>
              </a:defRPr>
            </a:pPr>
            <a:r>
              <a:t>■  Statutory Expiration: Deed expressly dictates re-entry terminates after thirty years under M.G.L. c. 184A, § 3</a:t>
            </a:r>
          </a:p>
          <a:p>
            <a:pPr>
              <a:spcAft>
                <a:spcPts val="1000"/>
              </a:spcAft>
              <a:defRPr sz="1300">
                <a:solidFill>
                  <a:srgbClr val="1A1D20"/>
                </a:solidFill>
                <a:latin typeface="Arial"/>
              </a:defRPr>
            </a:pPr>
            <a:r>
              <a:t>■  Expiration Date: March 7, 2019 (Exactly 30 years from deed execution)</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2 of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1990 to Present: Continuous Public Service</a:t>
            </a:r>
          </a:p>
          <a:p>
            <a:pPr>
              <a:spcBef>
                <a:spcPts val="800"/>
              </a:spcBef>
              <a:defRPr sz="2000" b="1">
                <a:solidFill>
                  <a:srgbClr val="9E1B32"/>
                </a:solidFill>
                <a:latin typeface="Arial"/>
              </a:defRPr>
            </a:pPr>
            <a:r>
              <a:t>The 12-Bed Adolescent Facility Operates Without Interruption</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Continuous Operational Compliance</a:t>
            </a:r>
          </a:p>
          <a:p>
            <a:pPr>
              <a:spcAft>
                <a:spcPts val="1000"/>
              </a:spcAft>
              <a:defRPr sz="1300">
                <a:solidFill>
                  <a:srgbClr val="1A1D20"/>
                </a:solidFill>
                <a:latin typeface="Arial"/>
              </a:defRPr>
            </a:pPr>
            <a:r>
              <a:t>■  Facility Footprint: 12-bed group home constructed on dedicated 2.0-acre parcel fronting Beal Street</a:t>
            </a:r>
          </a:p>
          <a:p>
            <a:pPr>
              <a:spcAft>
                <a:spcPts val="1000"/>
              </a:spcAft>
              <a:defRPr sz="1300">
                <a:solidFill>
                  <a:srgbClr val="1A1D20"/>
                </a:solidFill>
                <a:latin typeface="Arial"/>
              </a:defRPr>
            </a:pPr>
            <a:r>
              <a:t>■  Funding Program: Commonwealth Chapter 689 specialized public housing funds</a:t>
            </a:r>
          </a:p>
          <a:p>
            <a:pPr>
              <a:spcAft>
                <a:spcPts val="1000"/>
              </a:spcAft>
              <a:defRPr sz="1300">
                <a:solidFill>
                  <a:srgbClr val="1A1D20"/>
                </a:solidFill>
                <a:latin typeface="Arial"/>
              </a:defRPr>
            </a:pPr>
            <a:r>
              <a:t>■  Operating Provider: Continuous license to specialized youth service providers under DCF</a:t>
            </a:r>
          </a:p>
          <a:p>
            <a:pPr>
              <a:spcAft>
                <a:spcPts val="1000"/>
              </a:spcAft>
              <a:defRPr sz="1300">
                <a:solidFill>
                  <a:srgbClr val="1A1D20"/>
                </a:solidFill>
                <a:latin typeface="Arial"/>
              </a:defRPr>
            </a:pPr>
            <a:r>
              <a:t>■  Zero Operational Default: At no point did youth care use cease between 1989 and 2026</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Legal Implication of Unbroken Service</a:t>
            </a:r>
          </a:p>
          <a:p>
            <a:pPr>
              <a:spcAft>
                <a:spcPts val="1000"/>
              </a:spcAft>
              <a:defRPr sz="1300">
                <a:solidFill>
                  <a:srgbClr val="1A1D20"/>
                </a:solidFill>
                <a:latin typeface="Arial"/>
              </a:defRPr>
            </a:pPr>
            <a:r>
              <a:t>■  Condition Precedent: Town re-entry required cessation of adolescent care</a:t>
            </a:r>
          </a:p>
          <a:p>
            <a:pPr>
              <a:spcAft>
                <a:spcPts val="1000"/>
              </a:spcAft>
              <a:defRPr sz="1300">
                <a:solidFill>
                  <a:srgbClr val="1A1D20"/>
                </a:solidFill>
                <a:latin typeface="Arial"/>
              </a:defRPr>
            </a:pPr>
            <a:r>
              <a:t>■  Unbroken Compliance: Continuous youth home use prevented any total default trigger</a:t>
            </a:r>
          </a:p>
          <a:p>
            <a:pPr>
              <a:spcAft>
                <a:spcPts val="1000"/>
              </a:spcAft>
              <a:defRPr sz="1300">
                <a:solidFill>
                  <a:srgbClr val="1A1D20"/>
                </a:solidFill>
                <a:latin typeface="Arial"/>
              </a:defRPr>
            </a:pPr>
            <a:r>
              <a:t>■  State Covenants: State Chapter 689 funding attached permanent public housing protections</a:t>
            </a:r>
          </a:p>
          <a:p>
            <a:pPr>
              <a:spcAft>
                <a:spcPts val="1000"/>
              </a:spcAft>
              <a:defRPr sz="1300">
                <a:solidFill>
                  <a:srgbClr val="1A1D20"/>
                </a:solidFill>
                <a:latin typeface="Arial"/>
              </a:defRPr>
            </a:pPr>
            <a:r>
              <a:t>■  Active Facility Today: Youth home continues operating on Lot 1, undisturbed by senior housing</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3 of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June 2001: Demolition, Remediation &amp; Division</a:t>
            </a:r>
          </a:p>
          <a:p>
            <a:pPr>
              <a:spcBef>
                <a:spcPts val="800"/>
              </a:spcBef>
              <a:defRPr sz="2000" b="1">
                <a:solidFill>
                  <a:srgbClr val="9E1B32"/>
                </a:solidFill>
                <a:latin typeface="Arial"/>
              </a:defRPr>
            </a:pPr>
            <a:r>
              <a:t>WWII Munitions Bunkers Cleared; 8-Acre Surplus Plateau Created</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Naval Depot Remediation</a:t>
            </a:r>
          </a:p>
          <a:p>
            <a:pPr>
              <a:spcAft>
                <a:spcPts val="1000"/>
              </a:spcAft>
              <a:defRPr sz="1300">
                <a:solidFill>
                  <a:srgbClr val="1A1D20"/>
                </a:solidFill>
                <a:latin typeface="Arial"/>
              </a:defRPr>
            </a:pPr>
            <a:r>
              <a:t>■  Naval Ammunition Legacy: Interior 13 acres held abandoned concrete bunkers and earthen berms</a:t>
            </a:r>
          </a:p>
          <a:p>
            <a:pPr>
              <a:spcAft>
                <a:spcPts val="1000"/>
              </a:spcAft>
              <a:defRPr sz="1300">
                <a:solidFill>
                  <a:srgbClr val="1A1D20"/>
                </a:solidFill>
                <a:latin typeface="Arial"/>
              </a:defRPr>
            </a:pPr>
            <a:r>
              <a:t>■  Remediation Funding: Town funded demolition of structures and environmental soil cleanup</a:t>
            </a:r>
          </a:p>
          <a:p>
            <a:pPr>
              <a:spcAft>
                <a:spcPts val="1000"/>
              </a:spcAft>
              <a:defRPr sz="1300">
                <a:solidFill>
                  <a:srgbClr val="1A1D20"/>
                </a:solidFill>
                <a:latin typeface="Arial"/>
              </a:defRPr>
            </a:pPr>
            <a:r>
              <a:t>■  Administrative MOU: Town and HHA executed Memorandum of Understanding to coordinate future use</a:t>
            </a:r>
          </a:p>
          <a:p>
            <a:pPr>
              <a:spcAft>
                <a:spcPts val="1000"/>
              </a:spcAft>
              <a:defRPr sz="1300">
                <a:solidFill>
                  <a:srgbClr val="1A1D20"/>
                </a:solidFill>
                <a:latin typeface="Arial"/>
              </a:defRPr>
            </a:pPr>
            <a:r>
              <a:t>■  Site Clearance: Transformed overgrown military ruins into clean upland acreage</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Plan 100 of 2001 Subdivision</a:t>
            </a:r>
          </a:p>
          <a:p>
            <a:pPr>
              <a:spcAft>
                <a:spcPts val="1000"/>
              </a:spcAft>
              <a:defRPr sz="1300">
                <a:solidFill>
                  <a:srgbClr val="1A1D20"/>
                </a:solidFill>
                <a:latin typeface="Arial"/>
              </a:defRPr>
            </a:pPr>
            <a:r>
              <a:t>■  Recorded Survey: Gale Associates plan recorded in Plymouth Plan Book 44, Page 412</a:t>
            </a:r>
          </a:p>
          <a:p>
            <a:pPr>
              <a:spcAft>
                <a:spcPts val="1000"/>
              </a:spcAft>
              <a:defRPr sz="1300">
                <a:solidFill>
                  <a:srgbClr val="1A1D20"/>
                </a:solidFill>
                <a:latin typeface="Arial"/>
              </a:defRPr>
            </a:pPr>
            <a:r>
              <a:t>■  Lot 1 (2.000 Acres): Active adolescent group home with dedicated Beal Street access</a:t>
            </a:r>
          </a:p>
          <a:p>
            <a:pPr>
              <a:spcAft>
                <a:spcPts val="1000"/>
              </a:spcAft>
              <a:defRPr sz="1300">
                <a:solidFill>
                  <a:srgbClr val="1A1D20"/>
                </a:solidFill>
                <a:latin typeface="Arial"/>
              </a:defRPr>
            </a:pPr>
            <a:r>
              <a:t>■  Lot 2 (8.020 Acres): Remediated, buildable upland plateau fronting Beal Street</a:t>
            </a:r>
          </a:p>
          <a:p>
            <a:pPr>
              <a:spcAft>
                <a:spcPts val="1000"/>
              </a:spcAft>
              <a:defRPr sz="1300">
                <a:solidFill>
                  <a:srgbClr val="1A1D20"/>
                </a:solidFill>
                <a:latin typeface="Arial"/>
              </a:defRPr>
            </a:pPr>
            <a:r>
              <a:t>■  Milestone Result: Established clean legal boundaries for future municipal/housing needs</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4 of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May 2006: Town Meeting Mandates Senior Housing</a:t>
            </a:r>
          </a:p>
          <a:p>
            <a:pPr>
              <a:spcBef>
                <a:spcPts val="800"/>
              </a:spcBef>
              <a:defRPr sz="2000" b="1">
                <a:solidFill>
                  <a:srgbClr val="9E1B32"/>
                </a:solidFill>
                <a:latin typeface="Arial"/>
              </a:defRPr>
            </a:pPr>
            <a:r>
              <a:t>Declared 2/3 Supermajority Authorizes Deed Release for Affordable Housing</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Warrant Article 38 Legislative Action</a:t>
            </a:r>
          </a:p>
          <a:p>
            <a:pPr>
              <a:spcAft>
                <a:spcPts val="1000"/>
              </a:spcAft>
              <a:defRPr sz="1300">
                <a:solidFill>
                  <a:srgbClr val="1A1D20"/>
                </a:solidFill>
                <a:latin typeface="Arial"/>
              </a:defRPr>
            </a:pPr>
            <a:r>
              <a:t>■  Legislative Assembly: Hingham Annual Town Meeting (May 1, 2006)</a:t>
            </a:r>
          </a:p>
          <a:p>
            <a:pPr>
              <a:spcAft>
                <a:spcPts val="1000"/>
              </a:spcAft>
              <a:defRPr sz="1300">
                <a:solidFill>
                  <a:srgbClr val="1A1D20"/>
                </a:solidFill>
                <a:latin typeface="Arial"/>
              </a:defRPr>
            </a:pPr>
            <a:r>
              <a:t>■  Voting Threshold: Declared two-thirds supermajority vote in favor by Hingham voters</a:t>
            </a:r>
          </a:p>
          <a:p>
            <a:pPr>
              <a:spcAft>
                <a:spcPts val="1000"/>
              </a:spcAft>
              <a:defRPr sz="1300">
                <a:solidFill>
                  <a:srgbClr val="1A1D20"/>
                </a:solidFill>
                <a:latin typeface="Arial"/>
              </a:defRPr>
            </a:pPr>
            <a:r>
              <a:t>■  Mandate Text: Authorized Selectmen to amend 1989 deed restriction on School Tract II</a:t>
            </a:r>
          </a:p>
          <a:p>
            <a:pPr>
              <a:spcAft>
                <a:spcPts val="1000"/>
              </a:spcAft>
              <a:defRPr sz="1300">
                <a:solidFill>
                  <a:srgbClr val="1A1D20"/>
                </a:solidFill>
                <a:latin typeface="Arial"/>
              </a:defRPr>
            </a:pPr>
            <a:r>
              <a:t>■  Designated Purpose: Adding affordable senior housing as an express allowable use</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Administrative Breakdown</a:t>
            </a:r>
          </a:p>
          <a:p>
            <a:pPr>
              <a:spcAft>
                <a:spcPts val="1000"/>
              </a:spcAft>
              <a:defRPr sz="1300">
                <a:solidFill>
                  <a:srgbClr val="1A1D20"/>
                </a:solidFill>
                <a:latin typeface="Arial"/>
              </a:defRPr>
            </a:pPr>
            <a:r>
              <a:t>■  Democratic Mandate: Clear Town Meeting directive dedicating land to senior housing</a:t>
            </a:r>
          </a:p>
          <a:p>
            <a:pPr>
              <a:spcAft>
                <a:spcPts val="1000"/>
              </a:spcAft>
              <a:defRPr sz="1300">
                <a:solidFill>
                  <a:srgbClr val="1A1D20"/>
                </a:solidFill>
                <a:latin typeface="Arial"/>
              </a:defRPr>
            </a:pPr>
            <a:r>
              <a:t>■  Town Hall Omission: Board of Selectmen never drafted, signed, or recorded deed release</a:t>
            </a:r>
          </a:p>
          <a:p>
            <a:pPr>
              <a:spcAft>
                <a:spcPts val="1000"/>
              </a:spcAft>
              <a:defRPr sz="1300">
                <a:solidFill>
                  <a:srgbClr val="1A1D20"/>
                </a:solidFill>
                <a:latin typeface="Arial"/>
              </a:defRPr>
            </a:pPr>
            <a:r>
              <a:t>■  Registry Reality: 1989 deed restriction remained technically unreleased on public records</a:t>
            </a:r>
          </a:p>
          <a:p>
            <a:pPr>
              <a:spcAft>
                <a:spcPts val="1000"/>
              </a:spcAft>
              <a:defRPr sz="1300">
                <a:solidFill>
                  <a:srgbClr val="1A1D20"/>
                </a:solidFill>
                <a:latin typeface="Arial"/>
              </a:defRPr>
            </a:pPr>
            <a:r>
              <a:t>■  Latent Vulnerability: The unrecorded release created a title defect that surfaced years later</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5 of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2017–2018: The Unexecuted Deed Resurfaces</a:t>
            </a:r>
          </a:p>
          <a:p>
            <a:pPr>
              <a:spcBef>
                <a:spcPts val="800"/>
              </a:spcBef>
              <a:defRPr sz="2000" b="1">
                <a:solidFill>
                  <a:srgbClr val="9E1B32"/>
                </a:solidFill>
                <a:latin typeface="Arial"/>
              </a:defRPr>
            </a:pPr>
            <a:r>
              <a:t>Beal Street Due Diligence Reveals the Unrecorded Release</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Title Due Diligence &amp; Discovery</a:t>
            </a:r>
          </a:p>
          <a:p>
            <a:pPr>
              <a:spcAft>
                <a:spcPts val="1000"/>
              </a:spcAft>
              <a:defRPr sz="1300">
                <a:solidFill>
                  <a:srgbClr val="1A1D20"/>
                </a:solidFill>
                <a:latin typeface="Arial"/>
              </a:defRPr>
            </a:pPr>
            <a:r>
              <a:t>■  Discovery Date: 2016–2017 title examination by Town Counsel Susan Murphy</a:t>
            </a:r>
          </a:p>
          <a:p>
            <a:pPr>
              <a:spcAft>
                <a:spcPts val="1000"/>
              </a:spcAft>
              <a:defRPr sz="1300">
                <a:solidFill>
                  <a:srgbClr val="1A1D20"/>
                </a:solidFill>
                <a:latin typeface="Arial"/>
              </a:defRPr>
            </a:pPr>
            <a:r>
              <a:t>■  The Finding: 2006 Town Meeting deed release was never executed or recorded at Registry</a:t>
            </a:r>
          </a:p>
          <a:p>
            <a:pPr>
              <a:spcAft>
                <a:spcPts val="1000"/>
              </a:spcAft>
              <a:defRPr sz="1300">
                <a:solidFill>
                  <a:srgbClr val="1A1D20"/>
                </a:solidFill>
                <a:latin typeface="Arial"/>
              </a:defRPr>
            </a:pPr>
            <a:r>
              <a:t>■  Selectmen Hearing Jan 30, 2018: Selectman Karen Johnson details 2001 remediation history</a:t>
            </a:r>
          </a:p>
          <a:p>
            <a:pPr>
              <a:spcAft>
                <a:spcPts val="1000"/>
              </a:spcAft>
              <a:defRPr sz="1300">
                <a:solidFill>
                  <a:srgbClr val="1A1D20"/>
                </a:solidFill>
                <a:latin typeface="Arial"/>
              </a:defRPr>
            </a:pPr>
            <a:r>
              <a:t>■  Selectmen Hearing Feb 13, 2018: HHA Chair Bob Keys requests review of covenants</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Town Hall vs. Housing Authority</a:t>
            </a:r>
          </a:p>
          <a:p>
            <a:pPr>
              <a:spcAft>
                <a:spcPts val="1000"/>
              </a:spcAft>
              <a:defRPr sz="1300">
                <a:solidFill>
                  <a:srgbClr val="1A1D20"/>
                </a:solidFill>
                <a:latin typeface="Arial"/>
              </a:defRPr>
            </a:pPr>
            <a:r>
              <a:t>■  Select Board Argument: Because back 13 acres were never used for youth, Town should recapture land</a:t>
            </a:r>
          </a:p>
          <a:p>
            <a:pPr>
              <a:spcAft>
                <a:spcPts val="1000"/>
              </a:spcAft>
              <a:defRPr sz="1300">
                <a:solidFill>
                  <a:srgbClr val="1A1D20"/>
                </a:solidFill>
                <a:latin typeface="Arial"/>
              </a:defRPr>
            </a:pPr>
            <a:r>
              <a:t>■  HHA Response: Board votes against voluntary conveyance; land is dedicated to public housing</a:t>
            </a:r>
          </a:p>
          <a:p>
            <a:pPr>
              <a:spcAft>
                <a:spcPts val="1000"/>
              </a:spcAft>
              <a:defRPr sz="1300">
                <a:solidFill>
                  <a:srgbClr val="1A1D20"/>
                </a:solidFill>
                <a:latin typeface="Arial"/>
              </a:defRPr>
            </a:pPr>
            <a:r>
              <a:t>■  Impasse: Town Hall prepares litigation strategy in executive session</a:t>
            </a:r>
          </a:p>
          <a:p>
            <a:pPr>
              <a:spcAft>
                <a:spcPts val="1000"/>
              </a:spcAft>
              <a:defRPr sz="1300">
                <a:solidFill>
                  <a:srgbClr val="1A1D20"/>
                </a:solidFill>
                <a:latin typeface="Arial"/>
              </a:defRPr>
            </a:pPr>
            <a:r>
              <a:t>■  Statutory Clock: 30-year deed reverter deadline of March 7, 2019 rapidly approaching</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6 of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February 2019: The 30-Year Deadline &amp; Lawsuit Vote</a:t>
            </a:r>
          </a:p>
          <a:p>
            <a:pPr>
              <a:spcBef>
                <a:spcPts val="800"/>
              </a:spcBef>
              <a:defRPr sz="2000" b="1">
                <a:solidFill>
                  <a:srgbClr val="9E1B32"/>
                </a:solidFill>
                <a:latin typeface="Arial"/>
              </a:defRPr>
            </a:pPr>
            <a:r>
              <a:t>Select Board Votes 3–0 to Sue Housing Authority Nine Days Before Deadline</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Statutory Countdown</a:t>
            </a:r>
          </a:p>
          <a:p>
            <a:pPr>
              <a:spcAft>
                <a:spcPts val="1000"/>
              </a:spcAft>
              <a:defRPr sz="1300">
                <a:solidFill>
                  <a:srgbClr val="1A1D20"/>
                </a:solidFill>
                <a:latin typeface="Arial"/>
              </a:defRPr>
            </a:pPr>
            <a:r>
              <a:t>■  Statutory Deadline: March 7, 2019 (Exactly 30 years from March 7, 1989 deed execution)</a:t>
            </a:r>
          </a:p>
          <a:p>
            <a:pPr>
              <a:spcAft>
                <a:spcPts val="1000"/>
              </a:spcAft>
              <a:defRPr sz="1300">
                <a:solidFill>
                  <a:srgbClr val="1A1D20"/>
                </a:solidFill>
                <a:latin typeface="Arial"/>
              </a:defRPr>
            </a:pPr>
            <a:r>
              <a:t>■  Legal Advice: Town Counsel advises right of re-entry terminates forever under c. 184A, § 3</a:t>
            </a:r>
          </a:p>
          <a:p>
            <a:pPr>
              <a:spcAft>
                <a:spcPts val="1000"/>
              </a:spcAft>
              <a:defRPr sz="1300">
                <a:solidFill>
                  <a:srgbClr val="1A1D20"/>
                </a:solidFill>
                <a:latin typeface="Arial"/>
              </a:defRPr>
            </a:pPr>
            <a:r>
              <a:t>■  Executive Session: February 26, 2019 at 6:45 PM (Nine days before deadline)</a:t>
            </a:r>
          </a:p>
          <a:p>
            <a:pPr>
              <a:spcAft>
                <a:spcPts val="1000"/>
              </a:spcAft>
              <a:defRPr sz="1300">
                <a:solidFill>
                  <a:srgbClr val="1A1D20"/>
                </a:solidFill>
                <a:latin typeface="Arial"/>
              </a:defRPr>
            </a:pPr>
            <a:r>
              <a:t>■  Open Session Action: Board reconvenes at 7:00 PM (Chairman Paul Healey presiding)</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3–0 Lawsuit Vote</a:t>
            </a:r>
          </a:p>
          <a:p>
            <a:pPr>
              <a:spcAft>
                <a:spcPts val="1000"/>
              </a:spcAft>
              <a:defRPr sz="1300">
                <a:solidFill>
                  <a:srgbClr val="1A1D20"/>
                </a:solidFill>
                <a:latin typeface="Arial"/>
              </a:defRPr>
            </a:pPr>
            <a:r>
              <a:t>■  Mover &amp; Second: Motion by Healey, seconded by Johnson; passed 3–0 unanimous</a:t>
            </a:r>
          </a:p>
          <a:p>
            <a:pPr>
              <a:spcAft>
                <a:spcPts val="1000"/>
              </a:spcAft>
              <a:defRPr sz="1300">
                <a:solidFill>
                  <a:srgbClr val="1A1D20"/>
                </a:solidFill>
                <a:latin typeface="Arial"/>
              </a:defRPr>
            </a:pPr>
            <a:r>
              <a:t>■  Formal Mandate: 'To file litigation regarding enforcement of agreement as to 100 Beal Street'</a:t>
            </a:r>
          </a:p>
          <a:p>
            <a:pPr>
              <a:spcAft>
                <a:spcPts val="1000"/>
              </a:spcAft>
              <a:defRPr sz="1300">
                <a:solidFill>
                  <a:srgbClr val="1A1D20"/>
                </a:solidFill>
                <a:latin typeface="Arial"/>
              </a:defRPr>
            </a:pPr>
            <a:r>
              <a:t>■  Objective: Force Housing Authority to deed 100 Beal Street back to Town Hall</a:t>
            </a:r>
          </a:p>
          <a:p>
            <a:pPr>
              <a:spcAft>
                <a:spcPts val="1000"/>
              </a:spcAft>
              <a:defRPr sz="1300">
                <a:solidFill>
                  <a:srgbClr val="1A1D20"/>
                </a:solidFill>
                <a:latin typeface="Arial"/>
              </a:defRPr>
            </a:pPr>
            <a:r>
              <a:t>■  Significance: Town of Hingham prepares formal lawsuit against its own Housing Authority</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7 of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June 2019: The Emergency Transfer Vote Under Duress</a:t>
            </a:r>
          </a:p>
          <a:p>
            <a:pPr>
              <a:spcBef>
                <a:spcPts val="800"/>
              </a:spcBef>
              <a:defRPr sz="2000" b="1">
                <a:solidFill>
                  <a:srgbClr val="9E1B32"/>
                </a:solidFill>
                <a:latin typeface="Arial"/>
              </a:defRPr>
            </a:pPr>
            <a:r>
              <a:t>Facing Litigation, Housing Authority Boards Vote to Surrender 19 Acres</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Special Meeting Under Duress</a:t>
            </a:r>
          </a:p>
          <a:p>
            <a:pPr>
              <a:spcAft>
                <a:spcPts val="1000"/>
              </a:spcAft>
              <a:defRPr sz="1300">
                <a:solidFill>
                  <a:srgbClr val="1A1D20"/>
                </a:solidFill>
                <a:latin typeface="Arial"/>
              </a:defRPr>
            </a:pPr>
            <a:r>
              <a:t>■  Meeting Date: June 5, 2019 (Special Meeting of HHA Board of Commissioners)</a:t>
            </a:r>
          </a:p>
          <a:p>
            <a:pPr>
              <a:spcAft>
                <a:spcPts val="1000"/>
              </a:spcAft>
              <a:defRPr sz="1300">
                <a:solidFill>
                  <a:srgbClr val="1A1D20"/>
                </a:solidFill>
                <a:latin typeface="Arial"/>
              </a:defRPr>
            </a:pPr>
            <a:r>
              <a:t>■  Litigation Pressure: Board confronted with imminent court filing by Town of Hingham</a:t>
            </a:r>
          </a:p>
          <a:p>
            <a:pPr>
              <a:spcAft>
                <a:spcPts val="1000"/>
              </a:spcAft>
              <a:defRPr sz="1300">
                <a:solidFill>
                  <a:srgbClr val="1A1D20"/>
                </a:solidFill>
                <a:latin typeface="Arial"/>
              </a:defRPr>
            </a:pPr>
            <a:r>
              <a:t>■  The Motion: Board votes to approve transfer of ~19 acres off Beal Street to the Town</a:t>
            </a:r>
          </a:p>
          <a:p>
            <a:pPr>
              <a:spcAft>
                <a:spcPts val="1000"/>
              </a:spcAft>
              <a:defRPr sz="1300">
                <a:solidFill>
                  <a:srgbClr val="1A1D20"/>
                </a:solidFill>
                <a:latin typeface="Arial"/>
              </a:defRPr>
            </a:pPr>
            <a:r>
              <a:t>■  Contemplated Surrender: Agreement to relinquish Lot 2 and associated Housing Authority parcels</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Legal Reality</a:t>
            </a:r>
          </a:p>
          <a:p>
            <a:pPr>
              <a:spcAft>
                <a:spcPts val="1000"/>
              </a:spcAft>
              <a:defRPr sz="1300">
                <a:solidFill>
                  <a:srgbClr val="1A1D20"/>
                </a:solidFill>
                <a:latin typeface="Arial"/>
              </a:defRPr>
            </a:pPr>
            <a:r>
              <a:t>■  Illusion of Finality: Town Hall believed the property dispute had been settled</a:t>
            </a:r>
          </a:p>
          <a:p>
            <a:pPr>
              <a:spcAft>
                <a:spcPts val="1000"/>
              </a:spcAft>
              <a:defRPr sz="1300">
                <a:solidFill>
                  <a:srgbClr val="1A1D20"/>
                </a:solidFill>
                <a:latin typeface="Arial"/>
              </a:defRPr>
            </a:pPr>
            <a:r>
              <a:t>■  Statutory Barrier: Local housing authorities cannot convey public housing land unilaterally</a:t>
            </a:r>
          </a:p>
          <a:p>
            <a:pPr>
              <a:spcAft>
                <a:spcPts val="1000"/>
              </a:spcAft>
              <a:defRPr sz="1300">
                <a:solidFill>
                  <a:srgbClr val="1A1D20"/>
                </a:solidFill>
                <a:latin typeface="Arial"/>
              </a:defRPr>
            </a:pPr>
            <a:r>
              <a:t>■  State Financial Interest: Chapter 689 funding triggered mandatory Commonwealth supervision</a:t>
            </a:r>
          </a:p>
          <a:p>
            <a:pPr>
              <a:spcAft>
                <a:spcPts val="1000"/>
              </a:spcAft>
              <a:defRPr sz="1300">
                <a:solidFill>
                  <a:srgbClr val="1A1D20"/>
                </a:solidFill>
                <a:latin typeface="Arial"/>
              </a:defRPr>
            </a:pPr>
            <a:r>
              <a:t>■  Imminent State Reaction: State regulatory authorities intervene to safeguard the asset</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8 of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Summer 2019: The State Steps In</a:t>
            </a:r>
          </a:p>
          <a:p>
            <a:pPr>
              <a:spcBef>
                <a:spcPts val="800"/>
              </a:spcBef>
              <a:defRPr sz="2000" b="1">
                <a:solidFill>
                  <a:srgbClr val="9E1B32"/>
                </a:solidFill>
                <a:latin typeface="Arial"/>
              </a:defRPr>
            </a:pPr>
            <a:r>
              <a:t>Massachusetts DHCD Enforces Statutory Protections on Public Housing Land</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Independent Statutory Entity</a:t>
            </a:r>
          </a:p>
          <a:p>
            <a:pPr>
              <a:spcAft>
                <a:spcPts val="1000"/>
              </a:spcAft>
              <a:defRPr sz="1300">
                <a:solidFill>
                  <a:srgbClr val="1A1D20"/>
                </a:solidFill>
                <a:latin typeface="Arial"/>
              </a:defRPr>
            </a:pPr>
            <a:r>
              <a:t>■  Governing Law: Massachusetts General Laws Chapter 121B (Housing and Urban Renewal)</a:t>
            </a:r>
          </a:p>
          <a:p>
            <a:pPr>
              <a:spcAft>
                <a:spcPts val="1000"/>
              </a:spcAft>
              <a:defRPr sz="1300">
                <a:solidFill>
                  <a:srgbClr val="1A1D20"/>
                </a:solidFill>
                <a:latin typeface="Arial"/>
              </a:defRPr>
            </a:pPr>
            <a:r>
              <a:t>■  Corporate Independence: Housing Authorities are independent public corporations, not Town departments</a:t>
            </a:r>
          </a:p>
          <a:p>
            <a:pPr>
              <a:spcAft>
                <a:spcPts val="1000"/>
              </a:spcAft>
              <a:defRPr sz="1300">
                <a:solidFill>
                  <a:srgbClr val="1A1D20"/>
                </a:solidFill>
                <a:latin typeface="Arial"/>
              </a:defRPr>
            </a:pPr>
            <a:r>
              <a:t>■  Municipal Separation: Board of Selectmen has zero statutory authority to direct HHA real estate</a:t>
            </a:r>
          </a:p>
          <a:p>
            <a:pPr>
              <a:spcAft>
                <a:spcPts val="1000"/>
              </a:spcAft>
              <a:defRPr sz="1300">
                <a:solidFill>
                  <a:srgbClr val="1A1D20"/>
                </a:solidFill>
                <a:latin typeface="Arial"/>
              </a:defRPr>
            </a:pPr>
            <a:r>
              <a:t>■  Public Purpose: Real estate must remain dedicated to low-income housing needs</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Statutory Prohibition: M.G.L. c. 121B, § 34</a:t>
            </a:r>
          </a:p>
          <a:p>
            <a:pPr>
              <a:spcAft>
                <a:spcPts val="1000"/>
              </a:spcAft>
              <a:defRPr sz="1300">
                <a:solidFill>
                  <a:srgbClr val="1A1D20"/>
                </a:solidFill>
                <a:latin typeface="Arial"/>
              </a:defRPr>
            </a:pPr>
            <a:r>
              <a:t>■  State Regulator: Massachusetts DHCD (Associate Director Amy Stitely)</a:t>
            </a:r>
          </a:p>
          <a:p>
            <a:pPr>
              <a:spcAft>
                <a:spcPts val="1000"/>
              </a:spcAft>
              <a:defRPr sz="1300">
                <a:solidFill>
                  <a:srgbClr val="1A1D20"/>
                </a:solidFill>
                <a:latin typeface="Arial"/>
              </a:defRPr>
            </a:pPr>
            <a:r>
              <a:t>■  Supervisory Letters: Issued April 19 and June 26, 2019 to HHA and Town Counsel</a:t>
            </a:r>
          </a:p>
          <a:p>
            <a:pPr>
              <a:spcAft>
                <a:spcPts val="1000"/>
              </a:spcAft>
              <a:defRPr sz="1300">
                <a:solidFill>
                  <a:srgbClr val="1A1D20"/>
                </a:solidFill>
                <a:latin typeface="Arial"/>
              </a:defRPr>
            </a:pPr>
            <a:r>
              <a:t>■  Statutory Bar: Real estate assisted with state funds cannot be sold or transferred without written state approval</a:t>
            </a:r>
          </a:p>
          <a:p>
            <a:pPr>
              <a:spcAft>
                <a:spcPts val="1000"/>
              </a:spcAft>
              <a:defRPr sz="1300">
                <a:solidFill>
                  <a:srgbClr val="1A1D20"/>
                </a:solidFill>
                <a:latin typeface="Arial"/>
              </a:defRPr>
            </a:pPr>
            <a:r>
              <a:t>■  Determination: DHCD formally refuses to consent to municipal conveyance</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9 of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July 2019: The Legal Lock on Title</a:t>
            </a:r>
          </a:p>
          <a:p>
            <a:pPr>
              <a:spcBef>
                <a:spcPts val="800"/>
              </a:spcBef>
              <a:defRPr sz="2000" b="1">
                <a:solidFill>
                  <a:srgbClr val="9E1B32"/>
                </a:solidFill>
                <a:latin typeface="Arial"/>
              </a:defRPr>
            </a:pPr>
            <a:r>
              <a:t>Commonwealth Records Notice of Statutory Transfer Restriction</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Recorded Title Encumbrance</a:t>
            </a:r>
          </a:p>
          <a:p>
            <a:pPr>
              <a:spcAft>
                <a:spcPts val="1000"/>
              </a:spcAft>
              <a:defRPr sz="1300">
                <a:solidFill>
                  <a:srgbClr val="1A1D20"/>
                </a:solidFill>
                <a:latin typeface="Arial"/>
              </a:defRPr>
            </a:pPr>
            <a:r>
              <a:t>■  Recording Date: July 18, 2019 at 1:44 PM</a:t>
            </a:r>
          </a:p>
          <a:p>
            <a:pPr>
              <a:spcAft>
                <a:spcPts val="1000"/>
              </a:spcAft>
              <a:defRPr sz="1300">
                <a:solidFill>
                  <a:srgbClr val="1A1D20"/>
                </a:solidFill>
                <a:latin typeface="Arial"/>
              </a:defRPr>
            </a:pPr>
            <a:r>
              <a:t>■  Citation: Plymouth County Registry of Deeds, Book 51379, Page 244 (Document No. 55967)</a:t>
            </a:r>
          </a:p>
          <a:p>
            <a:pPr>
              <a:spcAft>
                <a:spcPts val="1000"/>
              </a:spcAft>
              <a:defRPr sz="1300">
                <a:solidFill>
                  <a:srgbClr val="1A1D20"/>
                </a:solidFill>
                <a:latin typeface="Arial"/>
              </a:defRPr>
            </a:pPr>
            <a:r>
              <a:t>■  Regulator: Commonwealth of Massachusetts Department of Housing &amp; Community Development</a:t>
            </a:r>
          </a:p>
          <a:p>
            <a:pPr>
              <a:spcAft>
                <a:spcPts val="1000"/>
              </a:spcAft>
              <a:defRPr sz="1300">
                <a:solidFill>
                  <a:srgbClr val="1A1D20"/>
                </a:solidFill>
                <a:latin typeface="Arial"/>
              </a:defRPr>
            </a:pPr>
            <a:r>
              <a:t>■  Subject Property: Assessor Map 58, Block 0, Lot 23 (100 Beal Street)</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Operational Effect on Title</a:t>
            </a:r>
          </a:p>
          <a:p>
            <a:pPr>
              <a:spcAft>
                <a:spcPts val="1000"/>
              </a:spcAft>
              <a:defRPr sz="1300">
                <a:solidFill>
                  <a:srgbClr val="1A1D20"/>
                </a:solidFill>
                <a:latin typeface="Arial"/>
              </a:defRPr>
            </a:pPr>
            <a:r>
              <a:t>■  Statutory Weapon: Cites M.G.L. c. 121B, § 34 directly on the public land title</a:t>
            </a:r>
          </a:p>
          <a:p>
            <a:pPr>
              <a:spcAft>
                <a:spcPts val="1000"/>
              </a:spcAft>
              <a:defRPr sz="1300">
                <a:solidFill>
                  <a:srgbClr val="1A1D20"/>
                </a:solidFill>
                <a:latin typeface="Arial"/>
              </a:defRPr>
            </a:pPr>
            <a:r>
              <a:t>■  Conveyance Void: Any deed executed without DHCD written approval is void as a matter of law</a:t>
            </a:r>
          </a:p>
          <a:p>
            <a:pPr>
              <a:spcAft>
                <a:spcPts val="1000"/>
              </a:spcAft>
              <a:defRPr sz="1300">
                <a:solidFill>
                  <a:srgbClr val="1A1D20"/>
                </a:solidFill>
                <a:latin typeface="Arial"/>
              </a:defRPr>
            </a:pPr>
            <a:r>
              <a:t>■  ALTA Survey Note: Formally identified as Schedule B, Item 5 encumbrance on 2024 boundary survey</a:t>
            </a:r>
          </a:p>
          <a:p>
            <a:pPr>
              <a:spcAft>
                <a:spcPts val="1000"/>
              </a:spcAft>
              <a:defRPr sz="1300">
                <a:solidFill>
                  <a:srgbClr val="1A1D20"/>
                </a:solidFill>
                <a:latin typeface="Arial"/>
              </a:defRPr>
            </a:pPr>
            <a:r>
              <a:t>■  Permanent Lock: Ensured parcel could never be repurposed away from public housing</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10 of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September 2021: HHA Rescission &amp; The Unresolved Title Cloud</a:t>
            </a:r>
          </a:p>
          <a:p>
            <a:pPr>
              <a:spcBef>
                <a:spcPts val="800"/>
              </a:spcBef>
              <a:defRPr sz="2000" b="1">
                <a:solidFill>
                  <a:srgbClr val="9E1B32"/>
                </a:solidFill>
                <a:latin typeface="Arial"/>
              </a:defRPr>
            </a:pPr>
            <a:r>
              <a:t>Ownership Reaffirmed, But 1989 Adolescent Restriction Remains on Record</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Rescission Motion (Sept 7, 2021)</a:t>
            </a:r>
          </a:p>
          <a:p>
            <a:pPr>
              <a:spcAft>
                <a:spcPts val="1000"/>
              </a:spcAft>
              <a:defRPr sz="1300">
                <a:solidFill>
                  <a:srgbClr val="1A1D20"/>
                </a:solidFill>
                <a:latin typeface="Arial"/>
              </a:defRPr>
            </a:pPr>
            <a:r>
              <a:t>■  Meeting: September 7, 2021 Regular Meeting at 30 Thaxter Street</a:t>
            </a:r>
          </a:p>
          <a:p>
            <a:pPr>
              <a:spcAft>
                <a:spcPts val="1000"/>
              </a:spcAft>
              <a:defRPr sz="1300">
                <a:solidFill>
                  <a:srgbClr val="1A1D20"/>
                </a:solidFill>
                <a:latin typeface="Arial"/>
              </a:defRPr>
            </a:pPr>
            <a:r>
              <a:t>■  Maker &amp; Second: Moved by Commissioner O'Meara, seconded by Commissioner Lauter</a:t>
            </a:r>
          </a:p>
          <a:p>
            <a:pPr>
              <a:spcAft>
                <a:spcPts val="1000"/>
              </a:spcAft>
              <a:defRPr sz="1300">
                <a:solidFill>
                  <a:srgbClr val="1A1D20"/>
                </a:solidFill>
                <a:latin typeface="Arial"/>
              </a:defRPr>
            </a:pPr>
            <a:r>
              <a:t>■  Roll Call: Commissioners Suchecki, O'Meara, Lauter, Buhr vote 4–0 unanimous</a:t>
            </a:r>
          </a:p>
          <a:p>
            <a:pPr>
              <a:spcAft>
                <a:spcPts val="1000"/>
              </a:spcAft>
              <a:defRPr sz="1300">
                <a:solidFill>
                  <a:srgbClr val="1A1D20"/>
                </a:solidFill>
                <a:latin typeface="Arial"/>
              </a:defRPr>
            </a:pPr>
            <a:r>
              <a:t>■  Ownership Reaffirmed: Fee ownership remained with HHA under state statutory protection</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Continuing Title Cloud &amp; Survey Finding</a:t>
            </a:r>
          </a:p>
          <a:p>
            <a:pPr>
              <a:spcAft>
                <a:spcPts val="1000"/>
              </a:spcAft>
              <a:defRPr sz="1300">
                <a:solidFill>
                  <a:srgbClr val="1A1D20"/>
                </a:solidFill>
                <a:latin typeface="Arial"/>
              </a:defRPr>
            </a:pPr>
            <a:r>
              <a:t>■  The Unresolved Cloud: The 2021 vote did NOT erase the 1989 deed restriction from Registry</a:t>
            </a:r>
          </a:p>
          <a:p>
            <a:pPr>
              <a:spcAft>
                <a:spcPts val="1000"/>
              </a:spcAft>
              <a:defRPr sz="1300">
                <a:solidFill>
                  <a:srgbClr val="1A1D20"/>
                </a:solidFill>
                <a:latin typeface="Arial"/>
              </a:defRPr>
            </a:pPr>
            <a:r>
              <a:t>■  Missing Release: Town Hall never recorded the 2006 deed release on public land records</a:t>
            </a:r>
          </a:p>
          <a:p>
            <a:pPr>
              <a:spcAft>
                <a:spcPts val="1000"/>
              </a:spcAft>
              <a:defRPr sz="1300">
                <a:solidFill>
                  <a:srgbClr val="1A1D20"/>
                </a:solidFill>
                <a:latin typeface="Arial"/>
              </a:defRPr>
            </a:pPr>
            <a:r>
              <a:t>■  2024 ALTA Survey Note 3: Kellem &amp; Kellem / Control Point survey explicitly states:</a:t>
            </a:r>
          </a:p>
          <a:p>
            <a:pPr>
              <a:spcAft>
                <a:spcPts val="1000"/>
              </a:spcAft>
              <a:defRPr sz="1300">
                <a:solidFill>
                  <a:srgbClr val="1A1D20"/>
                </a:solidFill>
                <a:latin typeface="Arial"/>
              </a:defRPr>
            </a:pPr>
            <a:r>
              <a:t>■  'THEREFORE NEED RELEASE OR CHANGE OF THIS RESTRICTION FROM THE TOWN OF HINGHAM'</a:t>
            </a:r>
          </a:p>
          <a:p>
            <a:pPr>
              <a:spcAft>
                <a:spcPts val="1000"/>
              </a:spcAft>
              <a:defRPr sz="1300">
                <a:solidFill>
                  <a:srgbClr val="1A1D20"/>
                </a:solidFill>
                <a:latin typeface="Arial"/>
              </a:defRPr>
            </a:pPr>
            <a:r>
              <a:t>■  Active Reality: Standoff between Town deed conditions and state housing policy remains open</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11 of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December 2024: Verified Environmental Stewardship</a:t>
            </a:r>
          </a:p>
          <a:p>
            <a:pPr>
              <a:spcBef>
                <a:spcPts val="800"/>
              </a:spcBef>
              <a:defRPr sz="2000" b="1">
                <a:solidFill>
                  <a:srgbClr val="9E1B32"/>
                </a:solidFill>
                <a:latin typeface="Arial"/>
              </a:defRPr>
            </a:pPr>
            <a:r>
              <a:t>Conservation Commission Records MassDEP ORAD Protecting Tucker's Swamp</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MassDEP File No. 034-1509</a:t>
            </a:r>
          </a:p>
          <a:p>
            <a:pPr>
              <a:spcAft>
                <a:spcPts val="1000"/>
              </a:spcAft>
              <a:defRPr sz="1300">
                <a:solidFill>
                  <a:srgbClr val="1A1D20"/>
                </a:solidFill>
                <a:latin typeface="Arial"/>
              </a:defRPr>
            </a:pPr>
            <a:r>
              <a:t>■  Application: Abbreviated Notice of Resource Area Delineation (ANRAD) for 100 Beal Street</a:t>
            </a:r>
          </a:p>
          <a:p>
            <a:pPr>
              <a:spcAft>
                <a:spcPts val="1000"/>
              </a:spcAft>
              <a:defRPr sz="1300">
                <a:solidFill>
                  <a:srgbClr val="1A1D20"/>
                </a:solidFill>
                <a:latin typeface="Arial"/>
              </a:defRPr>
            </a:pPr>
            <a:r>
              <a:t>■  Hearing Date: November 4, 2024 before Hingham Conservation Commission</a:t>
            </a:r>
          </a:p>
          <a:p>
            <a:pPr>
              <a:spcAft>
                <a:spcPts val="1000"/>
              </a:spcAft>
              <a:defRPr sz="1300">
                <a:solidFill>
                  <a:srgbClr val="1A1D20"/>
                </a:solidFill>
                <a:latin typeface="Arial"/>
              </a:defRPr>
            </a:pPr>
            <a:r>
              <a:t>■  Vote Result: Passed 5–0 unanimous (Nielsen, Mosher, Roby, Villanova, Freeman)</a:t>
            </a:r>
          </a:p>
          <a:p>
            <a:pPr>
              <a:spcAft>
                <a:spcPts val="1000"/>
              </a:spcAft>
              <a:defRPr sz="1300">
                <a:solidFill>
                  <a:srgbClr val="1A1D20"/>
                </a:solidFill>
                <a:latin typeface="Arial"/>
              </a:defRPr>
            </a:pPr>
            <a:r>
              <a:t>■  Recorded Instrument: Plymouth Registry Book 59527, Page 273 (Doc #78968, Dec 10, 2024)</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155+ Verified Wetland Flags &amp; Buffer Protection</a:t>
            </a:r>
          </a:p>
          <a:p>
            <a:pPr>
              <a:spcAft>
                <a:spcPts val="1000"/>
              </a:spcAft>
              <a:defRPr sz="1300">
                <a:solidFill>
                  <a:srgbClr val="1A1D20"/>
                </a:solidFill>
                <a:latin typeface="Arial"/>
              </a:defRPr>
            </a:pPr>
            <a:r>
              <a:t>■  Delineation Expert: Christopher Lucas, PWS/PSS (Lucas Environmental, LLC)</a:t>
            </a:r>
          </a:p>
          <a:p>
            <a:pPr>
              <a:spcAft>
                <a:spcPts val="1000"/>
              </a:spcAft>
              <a:defRPr sz="1300">
                <a:solidFill>
                  <a:srgbClr val="1A1D20"/>
                </a:solidFill>
                <a:latin typeface="Arial"/>
              </a:defRPr>
            </a:pPr>
            <a:r>
              <a:t>■  Protected Resources: 3 Bordering Vegetated Wetlands, 2 Isolated Wetlands, confirmed vernal pool</a:t>
            </a:r>
          </a:p>
          <a:p>
            <a:pPr>
              <a:spcAft>
                <a:spcPts val="1000"/>
              </a:spcAft>
              <a:defRPr sz="1300">
                <a:solidFill>
                  <a:srgbClr val="1A1D20"/>
                </a:solidFill>
                <a:latin typeface="Arial"/>
              </a:defRPr>
            </a:pPr>
            <a:r>
              <a:t>■  Watershed Shield: Establishes permanent protective buffers for Tucker's Swamp and Back River ACEC</a:t>
            </a:r>
          </a:p>
          <a:p>
            <a:pPr>
              <a:spcAft>
                <a:spcPts val="1000"/>
              </a:spcAft>
              <a:defRPr sz="1300">
                <a:solidFill>
                  <a:srgbClr val="1A1D20"/>
                </a:solidFill>
                <a:latin typeface="Arial"/>
              </a:defRPr>
            </a:pPr>
            <a:r>
              <a:t>■  Upland Verification: Proves Lot B contains high, dry, fully buildable plateau outside buffer zones</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12 of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August 2025: Peabody Award (Conditional Ground Lease)</a:t>
            </a:r>
          </a:p>
          <a:p>
            <a:pPr>
              <a:spcBef>
                <a:spcPts val="800"/>
              </a:spcBef>
              <a:defRPr sz="2000" b="1">
                <a:solidFill>
                  <a:srgbClr val="9E1B32"/>
                </a:solidFill>
                <a:latin typeface="Arial"/>
              </a:defRPr>
            </a:pPr>
            <a:r>
              <a:t>68 Senior Units Under a 99-Year Ground Lease Contingent on Title Resolution</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Public Procurement &amp; Selection</a:t>
            </a:r>
          </a:p>
          <a:p>
            <a:pPr>
              <a:spcAft>
                <a:spcPts val="1000"/>
              </a:spcAft>
              <a:defRPr sz="1300">
                <a:solidFill>
                  <a:srgbClr val="1A1D20"/>
                </a:solidFill>
                <a:latin typeface="Arial"/>
              </a:defRPr>
            </a:pPr>
            <a:r>
              <a:t>■  Procurement Solicitation: 155-Page RFP issued April 16, 2025 under M.G.L. c. 30B / c. 121B</a:t>
            </a:r>
          </a:p>
          <a:p>
            <a:pPr>
              <a:spcAft>
                <a:spcPts val="1000"/>
              </a:spcAft>
              <a:defRPr sz="1300">
                <a:solidFill>
                  <a:srgbClr val="1A1D20"/>
                </a:solidFill>
                <a:latin typeface="Arial"/>
              </a:defRPr>
            </a:pPr>
            <a:r>
              <a:t>■  Selection Vote: August 12, 2025 HHA meeting; passed 4–0 unanimous (Lauter, Weiser, O'Meara, Suchecki)</a:t>
            </a:r>
          </a:p>
          <a:p>
            <a:pPr>
              <a:spcAft>
                <a:spcPts val="1000"/>
              </a:spcAft>
              <a:defRPr sz="1300">
                <a:solidFill>
                  <a:srgbClr val="1A1D20"/>
                </a:solidFill>
                <a:latin typeface="Arial"/>
              </a:defRPr>
            </a:pPr>
            <a:r>
              <a:t>■  Designated Developer: Peabody Properties / Affordable Housing Services Corp. (AHSC)</a:t>
            </a:r>
          </a:p>
          <a:p>
            <a:pPr>
              <a:spcAft>
                <a:spcPts val="1000"/>
              </a:spcAft>
              <a:defRPr sz="1300">
                <a:solidFill>
                  <a:srgbClr val="1A1D20"/>
                </a:solidFill>
                <a:latin typeface="Arial"/>
              </a:defRPr>
            </a:pPr>
            <a:r>
              <a:t>■  Development Scope: 68 One- and Two-Bedroom Rental Apartments for Seniors 62+</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99-Year Lease &amp; Contingencies</a:t>
            </a:r>
          </a:p>
          <a:p>
            <a:pPr>
              <a:spcAft>
                <a:spcPts val="1000"/>
              </a:spcAft>
              <a:defRPr sz="1300">
                <a:solidFill>
                  <a:srgbClr val="1A1D20"/>
                </a:solidFill>
                <a:latin typeface="Arial"/>
              </a:defRPr>
            </a:pPr>
            <a:r>
              <a:t>■  99-Year Ground Lease: Land ownership remains permanently with Hingham Housing Authority</a:t>
            </a:r>
          </a:p>
          <a:p>
            <a:pPr>
              <a:spcAft>
                <a:spcPts val="1000"/>
              </a:spcAft>
              <a:defRPr sz="1300">
                <a:solidFill>
                  <a:srgbClr val="1A1D20"/>
                </a:solidFill>
                <a:latin typeface="Arial"/>
              </a:defRPr>
            </a:pPr>
            <a:r>
              <a:t>■  Upfront Leasehold Fee: Developer pays $500,000 upfront fee to Housing Authority</a:t>
            </a:r>
          </a:p>
          <a:p>
            <a:pPr>
              <a:spcAft>
                <a:spcPts val="1000"/>
              </a:spcAft>
              <a:defRPr sz="1300">
                <a:solidFill>
                  <a:srgbClr val="1A1D20"/>
                </a:solidFill>
                <a:latin typeface="Arial"/>
              </a:defRPr>
            </a:pPr>
            <a:r>
              <a:t>■  Contingent Execution: Lease closing requires state approvals and formal resolution of deed restriction</a:t>
            </a:r>
          </a:p>
          <a:p>
            <a:pPr>
              <a:spcAft>
                <a:spcPts val="1000"/>
              </a:spcAft>
              <a:defRPr sz="1300">
                <a:solidFill>
                  <a:srgbClr val="1A1D20"/>
                </a:solidFill>
                <a:latin typeface="Arial"/>
              </a:defRPr>
            </a:pPr>
            <a:r>
              <a:t>■  Municipal Financial Impact: Exactly $0 in Town Debt or Municipal Taxpayer Borrowing</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13 of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Architectural Vision: Modest, Sustainable &amp; Senior-Focused</a:t>
            </a:r>
          </a:p>
          <a:p>
            <a:pPr>
              <a:spcBef>
                <a:spcPts val="800"/>
              </a:spcBef>
              <a:defRPr sz="2000" b="1">
                <a:solidFill>
                  <a:srgbClr val="9E1B32"/>
                </a:solidFill>
                <a:latin typeface="Arial"/>
              </a:defRPr>
            </a:pPr>
            <a:r>
              <a:t>Universal Design, Internal Courtyard, and Low-Impact Civil Engineering</a:t>
            </a:r>
          </a:p>
        </p:txBody>
      </p:sp>
      <p:pic>
        <p:nvPicPr>
          <p:cNvPr id="5" name="Picture 4" descr="weston_front.png"/>
          <p:cNvPicPr>
            <a:picLocks noChangeAspect="1"/>
          </p:cNvPicPr>
          <p:nvPr/>
        </p:nvPicPr>
        <p:blipFill>
          <a:blip r:embed="rId2"/>
          <a:stretch>
            <a:fillRect/>
          </a:stretch>
        </p:blipFill>
        <p:spPr>
          <a:xfrm>
            <a:off x="731520" y="2011680"/>
            <a:ext cx="5486400" cy="4114800"/>
          </a:xfrm>
          <a:prstGeom prst="rect">
            <a:avLst/>
          </a:prstGeom>
        </p:spPr>
      </p:pic>
      <p:sp>
        <p:nvSpPr>
          <p:cNvPr id="6" name="Rounded Rectangle 5"/>
          <p:cNvSpPr/>
          <p:nvPr/>
        </p:nvSpPr>
        <p:spPr>
          <a:xfrm>
            <a:off x="6492240" y="2011680"/>
            <a:ext cx="493776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800" b="1">
                <a:solidFill>
                  <a:srgbClr val="0B2265"/>
                </a:solidFill>
                <a:latin typeface="Arial"/>
              </a:defRPr>
            </a:pPr>
            <a:r>
              <a:t>Senior-Focused Design Specifications</a:t>
            </a:r>
          </a:p>
          <a:p>
            <a:pPr>
              <a:spcAft>
                <a:spcPts val="1000"/>
              </a:spcAft>
              <a:defRPr sz="1300">
                <a:solidFill>
                  <a:srgbClr val="1A1D20"/>
                </a:solidFill>
                <a:latin typeface="Arial"/>
              </a:defRPr>
            </a:pPr>
            <a:r>
              <a:t>■  Modest Architectural Scale: 3-story wood-frame residential building complementing Hingham</a:t>
            </a:r>
          </a:p>
          <a:p>
            <a:pPr>
              <a:spcAft>
                <a:spcPts val="1000"/>
              </a:spcAft>
              <a:defRPr sz="1300">
                <a:solidFill>
                  <a:srgbClr val="1A1D20"/>
                </a:solidFill>
                <a:latin typeface="Arial"/>
              </a:defRPr>
            </a:pPr>
            <a:r>
              <a:t>■  100% Universal Accessibility: Single-floor barrier-free living, wide corridors, dual elevators</a:t>
            </a:r>
          </a:p>
          <a:p>
            <a:pPr>
              <a:spcAft>
                <a:spcPts val="1000"/>
              </a:spcAft>
              <a:defRPr sz="1300">
                <a:solidFill>
                  <a:srgbClr val="1A1D20"/>
                </a:solidFill>
                <a:latin typeface="Arial"/>
              </a:defRPr>
            </a:pPr>
            <a:r>
              <a:t>■  Community Amenities: Multi-purpose gathering hall, wellness clinic, garden courtyard</a:t>
            </a:r>
          </a:p>
          <a:p>
            <a:pPr>
              <a:spcAft>
                <a:spcPts val="1000"/>
              </a:spcAft>
              <a:defRPr sz="1300">
                <a:solidFill>
                  <a:srgbClr val="1A1D20"/>
                </a:solidFill>
                <a:latin typeface="Arial"/>
              </a:defRPr>
            </a:pPr>
            <a:r>
              <a:t>■  Natural Environmental Buffers: 50-foot undisturbed natural vegetative tree buffer to abutters</a:t>
            </a:r>
          </a:p>
          <a:p>
            <a:pPr>
              <a:spcAft>
                <a:spcPts val="1000"/>
              </a:spcAft>
              <a:defRPr sz="1300">
                <a:solidFill>
                  <a:srgbClr val="1A1D20"/>
                </a:solidFill>
                <a:latin typeface="Arial"/>
              </a:defRPr>
            </a:pPr>
            <a:r>
              <a:t>■  Advanced Stormwater Engineering: Bioretention swales filtering 100% of rainwater on-site</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14 of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Clearing Up the Town Rumor: CAL vs. 100 Beal Street</a:t>
            </a:r>
          </a:p>
          <a:p>
            <a:pPr>
              <a:spcBef>
                <a:spcPts val="800"/>
              </a:spcBef>
              <a:defRPr sz="2000" b="1">
                <a:solidFill>
                  <a:srgbClr val="9E1B32"/>
                </a:solidFill>
                <a:latin typeface="Arial"/>
              </a:defRPr>
            </a:pPr>
            <a:r>
              <a:t>The Defeated Project Was Bare Cove Park CAL; 100 Beal Street Was Never on the Ballot</a:t>
            </a:r>
          </a:p>
        </p:txBody>
      </p:sp>
      <p:graphicFrame>
        <p:nvGraphicFramePr>
          <p:cNvPr id="5" name="Table 4"/>
          <p:cNvGraphicFramePr>
            <a:graphicFrameLocks noGrp="1"/>
          </p:cNvGraphicFramePr>
          <p:nvPr/>
        </p:nvGraphicFramePr>
        <p:xfrm>
          <a:off x="731520" y="2011680"/>
          <a:ext cx="10727740" cy="4114800"/>
        </p:xfrm>
        <a:graphic>
          <a:graphicData uri="http://schemas.openxmlformats.org/drawingml/2006/table">
            <a:tbl>
              <a:tblPr firstRow="1" bandRow="1">
                <a:tableStyleId>{5C22544A-7EE6-4342-B048-85BDC9FD1C3A}</a:tableStyleId>
              </a:tblPr>
              <a:tblGrid>
                <a:gridCol w="2560320"/>
                <a:gridCol w="4083710"/>
                <a:gridCol w="4083710"/>
              </a:tblGrid>
              <a:tr h="587828">
                <a:tc>
                  <a:txBody>
                    <a:bodyPr/>
                    <a:lstStyle/>
                    <a:p>
                      <a:pPr>
                        <a:defRPr sz="1400" b="1">
                          <a:solidFill>
                            <a:srgbClr val="FFFFFF"/>
                          </a:solidFill>
                          <a:latin typeface="Arial"/>
                        </a:defRPr>
                      </a:pPr>
                      <a:r>
                        <a:t>Feature / Question</a:t>
                      </a:r>
                    </a:p>
                  </a:txBody>
                  <a:tcPr>
                    <a:solidFill>
                      <a:srgbClr val="0B2265"/>
                    </a:solidFill>
                  </a:tcPr>
                </a:tc>
                <a:tc>
                  <a:txBody>
                    <a:bodyPr/>
                    <a:lstStyle/>
                    <a:p>
                      <a:pPr>
                        <a:defRPr sz="1400" b="1">
                          <a:solidFill>
                            <a:srgbClr val="FFFFFF"/>
                          </a:solidFill>
                          <a:latin typeface="Arial"/>
                        </a:defRPr>
                      </a:pPr>
                      <a:r>
                        <a:t>100 Beal Street Senior Affordable Housing</a:t>
                      </a:r>
                    </a:p>
                  </a:txBody>
                  <a:tcPr>
                    <a:solidFill>
                      <a:srgbClr val="0B2265"/>
                    </a:solidFill>
                  </a:tcPr>
                </a:tc>
                <a:tc>
                  <a:txBody>
                    <a:bodyPr/>
                    <a:lstStyle/>
                    <a:p>
                      <a:pPr>
                        <a:defRPr sz="1400" b="1">
                          <a:solidFill>
                            <a:srgbClr val="FFFFFF"/>
                          </a:solidFill>
                          <a:latin typeface="Arial"/>
                        </a:defRPr>
                      </a:pPr>
                      <a:r>
                        <a:t>Bare Cove Park Center for Active Living (CAL)</a:t>
                      </a:r>
                    </a:p>
                  </a:txBody>
                  <a:tcPr>
                    <a:solidFill>
                      <a:srgbClr val="0B2265"/>
                    </a:solidFill>
                  </a:tcPr>
                </a:tc>
              </a:tr>
              <a:tr h="587828">
                <a:tc>
                  <a:txBody>
                    <a:bodyPr/>
                    <a:lstStyle/>
                    <a:p>
                      <a:pPr>
                        <a:defRPr sz="1300" b="1">
                          <a:solidFill>
                            <a:srgbClr val="1A1D20"/>
                          </a:solidFill>
                          <a:latin typeface="Arial"/>
                        </a:defRPr>
                      </a:pPr>
                      <a:r>
                        <a:t>Project Nature</a:t>
                      </a:r>
                    </a:p>
                  </a:txBody>
                  <a:tcPr/>
                </a:tc>
                <a:tc>
                  <a:txBody>
                    <a:bodyPr/>
                    <a:lstStyle/>
                    <a:p>
                      <a:pPr>
                        <a:defRPr sz="1300">
                          <a:solidFill>
                            <a:srgbClr val="065F46"/>
                          </a:solidFill>
                          <a:latin typeface="Arial"/>
                        </a:defRPr>
                      </a:pPr>
                      <a:r>
                        <a:t>68-Unit Residential Housing for Seniors 62+</a:t>
                      </a:r>
                    </a:p>
                  </a:txBody>
                  <a:tcPr/>
                </a:tc>
                <a:tc>
                  <a:txBody>
                    <a:bodyPr/>
                    <a:lstStyle/>
                    <a:p>
                      <a:pPr>
                        <a:defRPr sz="1300">
                          <a:solidFill>
                            <a:srgbClr val="991B1B"/>
                          </a:solidFill>
                          <a:latin typeface="Arial"/>
                        </a:defRPr>
                      </a:pPr>
                      <a:r>
                        <a:t>Daytime Municipal Senior Activities Facility</a:t>
                      </a:r>
                    </a:p>
                  </a:txBody>
                  <a:tcPr/>
                </a:tc>
              </a:tr>
              <a:tr h="587828">
                <a:tc>
                  <a:txBody>
                    <a:bodyPr/>
                    <a:lstStyle/>
                    <a:p>
                      <a:pPr>
                        <a:defRPr sz="1300" b="1">
                          <a:solidFill>
                            <a:srgbClr val="1A1D20"/>
                          </a:solidFill>
                          <a:latin typeface="Arial"/>
                        </a:defRPr>
                      </a:pPr>
                      <a:r>
                        <a:t>Land Ownership</a:t>
                      </a:r>
                    </a:p>
                  </a:txBody>
                  <a:tcPr/>
                </a:tc>
                <a:tc>
                  <a:txBody>
                    <a:bodyPr/>
                    <a:lstStyle/>
                    <a:p>
                      <a:pPr>
                        <a:defRPr sz="1300">
                          <a:solidFill>
                            <a:srgbClr val="065F46"/>
                          </a:solidFill>
                          <a:latin typeface="Arial"/>
                        </a:defRPr>
                      </a:pPr>
                      <a:r>
                        <a:t>Hingham Housing Authority (Independent State Entity)</a:t>
                      </a:r>
                    </a:p>
                  </a:txBody>
                  <a:tcPr/>
                </a:tc>
                <a:tc>
                  <a:txBody>
                    <a:bodyPr/>
                    <a:lstStyle/>
                    <a:p>
                      <a:pPr>
                        <a:defRPr sz="1300">
                          <a:solidFill>
                            <a:srgbClr val="991B1B"/>
                          </a:solidFill>
                          <a:latin typeface="Arial"/>
                        </a:defRPr>
                      </a:pPr>
                      <a:r>
                        <a:t>Inhabitants of the Town of Hingham (Municipal Park)</a:t>
                      </a:r>
                    </a:p>
                  </a:txBody>
                  <a:tcPr/>
                </a:tc>
              </a:tr>
              <a:tr h="587828">
                <a:tc>
                  <a:txBody>
                    <a:bodyPr/>
                    <a:lstStyle/>
                    <a:p>
                      <a:pPr>
                        <a:defRPr sz="1300" b="1">
                          <a:solidFill>
                            <a:srgbClr val="1A1D20"/>
                          </a:solidFill>
                          <a:latin typeface="Arial"/>
                        </a:defRPr>
                      </a:pPr>
                      <a:r>
                        <a:t>Project Location</a:t>
                      </a:r>
                    </a:p>
                  </a:txBody>
                  <a:tcPr/>
                </a:tc>
                <a:tc>
                  <a:txBody>
                    <a:bodyPr/>
                    <a:lstStyle/>
                    <a:p>
                      <a:pPr>
                        <a:defRPr sz="1300">
                          <a:solidFill>
                            <a:srgbClr val="065F46"/>
                          </a:solidFill>
                          <a:latin typeface="Arial"/>
                        </a:defRPr>
                      </a:pPr>
                      <a:r>
                        <a:t>100 Beal Street (Lot B Upland Plateau)</a:t>
                      </a:r>
                    </a:p>
                  </a:txBody>
                  <a:tcPr/>
                </a:tc>
                <a:tc>
                  <a:txBody>
                    <a:bodyPr/>
                    <a:lstStyle/>
                    <a:p>
                      <a:pPr>
                        <a:defRPr sz="1300">
                          <a:solidFill>
                            <a:srgbClr val="991B1B"/>
                          </a:solidFill>
                          <a:latin typeface="Arial"/>
                        </a:defRPr>
                      </a:pPr>
                      <a:r>
                        <a:t>Bare Cove Park Drive (Inside Bare Cove Park boundary)</a:t>
                      </a:r>
                    </a:p>
                  </a:txBody>
                  <a:tcPr/>
                </a:tc>
              </a:tr>
              <a:tr h="587828">
                <a:tc>
                  <a:txBody>
                    <a:bodyPr/>
                    <a:lstStyle/>
                    <a:p>
                      <a:pPr>
                        <a:defRPr sz="1300" b="1">
                          <a:solidFill>
                            <a:srgbClr val="1A1D20"/>
                          </a:solidFill>
                          <a:latin typeface="Arial"/>
                        </a:defRPr>
                      </a:pPr>
                      <a:r>
                        <a:t>Cost to Taxpayers</a:t>
                      </a:r>
                    </a:p>
                  </a:txBody>
                  <a:tcPr/>
                </a:tc>
                <a:tc>
                  <a:txBody>
                    <a:bodyPr/>
                    <a:lstStyle/>
                    <a:p>
                      <a:pPr>
                        <a:defRPr sz="1300">
                          <a:solidFill>
                            <a:srgbClr val="065F46"/>
                          </a:solidFill>
                          <a:latin typeface="Arial"/>
                        </a:defRPr>
                      </a:pPr>
                      <a:r>
                        <a:t>$0 Town Borrowing / $0 Municipal Debt</a:t>
                      </a:r>
                    </a:p>
                  </a:txBody>
                  <a:tcPr/>
                </a:tc>
                <a:tc>
                  <a:txBody>
                    <a:bodyPr/>
                    <a:lstStyle/>
                    <a:p>
                      <a:pPr>
                        <a:defRPr sz="1300">
                          <a:solidFill>
                            <a:srgbClr val="991B1B"/>
                          </a:solidFill>
                          <a:latin typeface="Arial"/>
                        </a:defRPr>
                      </a:pPr>
                      <a:r>
                        <a:t>$29,930,000 Municipal Debt Exclusion Borrowing</a:t>
                      </a:r>
                    </a:p>
                  </a:txBody>
                  <a:tcPr/>
                </a:tc>
              </a:tr>
              <a:tr h="587828">
                <a:tc>
                  <a:txBody>
                    <a:bodyPr/>
                    <a:lstStyle/>
                    <a:p>
                      <a:pPr>
                        <a:defRPr sz="1300" b="1">
                          <a:solidFill>
                            <a:srgbClr val="1A1D20"/>
                          </a:solidFill>
                          <a:latin typeface="Arial"/>
                        </a:defRPr>
                      </a:pPr>
                      <a:r>
                        <a:t>Town Meeting Action</a:t>
                      </a:r>
                    </a:p>
                  </a:txBody>
                  <a:tcPr/>
                </a:tc>
                <a:tc>
                  <a:txBody>
                    <a:bodyPr/>
                    <a:lstStyle/>
                    <a:p>
                      <a:pPr>
                        <a:defRPr sz="1300">
                          <a:solidFill>
                            <a:srgbClr val="065F46"/>
                          </a:solidFill>
                          <a:latin typeface="Arial"/>
                        </a:defRPr>
                      </a:pPr>
                      <a:r>
                        <a:t>Never voted down or rejected at Town Meeting</a:t>
                      </a:r>
                    </a:p>
                  </a:txBody>
                  <a:tcPr/>
                </a:tc>
                <a:tc>
                  <a:txBody>
                    <a:bodyPr/>
                    <a:lstStyle/>
                    <a:p>
                      <a:pPr>
                        <a:defRPr sz="1300">
                          <a:solidFill>
                            <a:srgbClr val="991B1B"/>
                          </a:solidFill>
                          <a:latin typeface="Arial"/>
                        </a:defRPr>
                      </a:pPr>
                      <a:r>
                        <a:t>Defeated at Town Meeting on April 27, 2026 (Art. 12)</a:t>
                      </a:r>
                    </a:p>
                  </a:txBody>
                  <a:tcPr/>
                </a:tc>
              </a:tr>
              <a:tr h="587832">
                <a:tc>
                  <a:txBody>
                    <a:bodyPr/>
                    <a:lstStyle/>
                    <a:p>
                      <a:pPr>
                        <a:defRPr sz="1300" b="1">
                          <a:solidFill>
                            <a:srgbClr val="1A1D20"/>
                          </a:solidFill>
                          <a:latin typeface="Arial"/>
                        </a:defRPr>
                      </a:pPr>
                      <a:r>
                        <a:t>Current Status</a:t>
                      </a:r>
                    </a:p>
                  </a:txBody>
                  <a:tcPr/>
                </a:tc>
                <a:tc>
                  <a:txBody>
                    <a:bodyPr/>
                    <a:lstStyle/>
                    <a:p>
                      <a:pPr>
                        <a:defRPr sz="1300">
                          <a:solidFill>
                            <a:srgbClr val="065F46"/>
                          </a:solidFill>
                          <a:latin typeface="Arial"/>
                        </a:defRPr>
                      </a:pPr>
                      <a:r>
                        <a:t>ACTIVE: Advancing toward 40B permitting &amp; title agreement</a:t>
                      </a:r>
                    </a:p>
                  </a:txBody>
                  <a:tcPr/>
                </a:tc>
                <a:tc>
                  <a:txBody>
                    <a:bodyPr/>
                    <a:lstStyle/>
                    <a:p>
                      <a:pPr>
                        <a:defRPr sz="1300">
                          <a:solidFill>
                            <a:srgbClr val="991B1B"/>
                          </a:solidFill>
                          <a:latin typeface="Arial"/>
                        </a:defRPr>
                      </a:pPr>
                      <a:r>
                        <a:t>DEFEATED: Stalled due to failed 2/3 debt borrowing vote</a:t>
                      </a:r>
                    </a:p>
                  </a:txBody>
                  <a:tcPr/>
                </a:tc>
              </a:tr>
            </a:tbl>
          </a:graphicData>
        </a:graphic>
      </p:graphicFrame>
      <p:sp>
        <p:nvSpPr>
          <p:cNvPr id="6" name="TextBox 5"/>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15 of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9E1B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698480" cy="1097280"/>
          </a:xfrm>
          <a:prstGeom prst="rect">
            <a:avLst/>
          </a:prstGeom>
          <a:noFill/>
        </p:spPr>
        <p:txBody>
          <a:bodyPr wrap="square" lIns="0" tIns="0" rIns="0" bIns="0">
            <a:spAutoFit/>
          </a:bodyPr>
          <a:lstStyle/>
          <a:p>
            <a:pPr>
              <a:defRPr sz="3600" b="1">
                <a:solidFill>
                  <a:srgbClr val="0B2265"/>
                </a:solidFill>
                <a:latin typeface="Arial"/>
              </a:defRPr>
            </a:pPr>
            <a:r>
              <a:t>Conclusion &amp; The Path Forward: Resolving the Final Hurdle</a:t>
            </a:r>
          </a:p>
          <a:p>
            <a:pPr>
              <a:spcBef>
                <a:spcPts val="800"/>
              </a:spcBef>
              <a:defRPr sz="2000" b="1">
                <a:solidFill>
                  <a:srgbClr val="9E1B32"/>
                </a:solidFill>
                <a:latin typeface="Arial"/>
              </a:defRPr>
            </a:pPr>
            <a:r>
              <a:t>37 Years of History Moving Toward Permitting and Municipal Resolution</a:t>
            </a:r>
          </a:p>
        </p:txBody>
      </p:sp>
      <p:sp>
        <p:nvSpPr>
          <p:cNvPr id="5" name="Rounded Rectangle 4"/>
          <p:cNvSpPr/>
          <p:nvPr/>
        </p:nvSpPr>
        <p:spPr>
          <a:xfrm>
            <a:off x="7315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Core Achievements &amp; Security</a:t>
            </a:r>
          </a:p>
          <a:p>
            <a:pPr>
              <a:spcAft>
                <a:spcPts val="1000"/>
              </a:spcAft>
              <a:defRPr sz="1300">
                <a:solidFill>
                  <a:srgbClr val="1A1D20"/>
                </a:solidFill>
                <a:latin typeface="Arial"/>
              </a:defRPr>
            </a:pPr>
            <a:r>
              <a:t>■  37-Year Evolution: Naval Depot → Adolescent Care → Bunker Cleanup → Senior Housing</a:t>
            </a:r>
          </a:p>
          <a:p>
            <a:pPr>
              <a:spcAft>
                <a:spcPts val="1000"/>
              </a:spcAft>
              <a:defRPr sz="1300">
                <a:solidFill>
                  <a:srgbClr val="1A1D20"/>
                </a:solidFill>
                <a:latin typeface="Arial"/>
              </a:defRPr>
            </a:pPr>
            <a:r>
              <a:t>■  Secure Ownership: Land remains in Housing Authority ownership under state statutory protection</a:t>
            </a:r>
          </a:p>
          <a:p>
            <a:pPr>
              <a:spcAft>
                <a:spcPts val="1000"/>
              </a:spcAft>
              <a:defRPr sz="1300">
                <a:solidFill>
                  <a:srgbClr val="1A1D20"/>
                </a:solidFill>
                <a:latin typeface="Arial"/>
              </a:defRPr>
            </a:pPr>
            <a:r>
              <a:t>■  Environmental Clearance: 155+ wetland flags stamped under recorded MassDEP ORAD</a:t>
            </a:r>
          </a:p>
          <a:p>
            <a:pPr>
              <a:spcAft>
                <a:spcPts val="1000"/>
              </a:spcAft>
              <a:defRPr sz="1300">
                <a:solidFill>
                  <a:srgbClr val="1A1D20"/>
                </a:solidFill>
                <a:latin typeface="Arial"/>
              </a:defRPr>
            </a:pPr>
            <a:r>
              <a:t>■  Democratic Legitimacy: 2006 Town Meeting 2/3 supermajority authorized senior housing use</a:t>
            </a:r>
          </a:p>
        </p:txBody>
      </p:sp>
      <p:sp>
        <p:nvSpPr>
          <p:cNvPr id="6" name="Rounded Rectangle 5"/>
          <p:cNvSpPr/>
          <p:nvPr/>
        </p:nvSpPr>
        <p:spPr>
          <a:xfrm>
            <a:off x="6217920" y="2011680"/>
            <a:ext cx="5212080" cy="411480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bIns="320040"/>
          <a:lstStyle/>
          <a:p>
            <a:pPr algn="ctr">
              <a:spcAft>
                <a:spcPts val="1400"/>
              </a:spcAft>
              <a:defRPr sz="1800" b="1">
                <a:solidFill>
                  <a:srgbClr val="0B2265"/>
                </a:solidFill>
                <a:latin typeface="Arial"/>
              </a:defRPr>
            </a:pPr>
            <a:r>
              <a:t>The Final Hurdle &amp; Next Steps</a:t>
            </a:r>
          </a:p>
          <a:p>
            <a:pPr>
              <a:spcAft>
                <a:spcPts val="1000"/>
              </a:spcAft>
              <a:defRPr sz="1300">
                <a:solidFill>
                  <a:srgbClr val="1A1D20"/>
                </a:solidFill>
                <a:latin typeface="Arial"/>
              </a:defRPr>
            </a:pPr>
            <a:r>
              <a:t>■  The Unresolved Hurdle: Formally clearing the historic 1989 deed restriction on title</a:t>
            </a:r>
          </a:p>
          <a:p>
            <a:pPr>
              <a:spcAft>
                <a:spcPts val="1000"/>
              </a:spcAft>
              <a:defRPr sz="1300">
                <a:solidFill>
                  <a:srgbClr val="1A1D20"/>
                </a:solidFill>
                <a:latin typeface="Arial"/>
              </a:defRPr>
            </a:pPr>
            <a:r>
              <a:t>■  Dual Pathways: Select Board execution of 2006 authorized release OR Chapter 40B override</a:t>
            </a:r>
          </a:p>
          <a:p>
            <a:pPr>
              <a:spcAft>
                <a:spcPts val="1000"/>
              </a:spcAft>
              <a:defRPr sz="1300">
                <a:solidFill>
                  <a:srgbClr val="1A1D20"/>
                </a:solidFill>
                <a:latin typeface="Arial"/>
              </a:defRPr>
            </a:pPr>
            <a:r>
              <a:t>■  Community Benefit: 68 permanently affordable homes for seniors with $0 municipal debt</a:t>
            </a:r>
          </a:p>
          <a:p>
            <a:pPr>
              <a:spcAft>
                <a:spcPts val="1000"/>
              </a:spcAft>
              <a:defRPr sz="1300">
                <a:solidFill>
                  <a:srgbClr val="1A1D20"/>
                </a:solidFill>
                <a:latin typeface="Arial"/>
              </a:defRPr>
            </a:pPr>
            <a:r>
              <a:t>■  Path Forward: Comprehensive Permit application, state regulatory reviews, and civic dialogue</a:t>
            </a:r>
          </a:p>
        </p:txBody>
      </p:sp>
      <p:sp>
        <p:nvSpPr>
          <p:cNvPr id="7" name="TextBox 6"/>
          <p:cNvSpPr txBox="1"/>
          <p:nvPr/>
        </p:nvSpPr>
        <p:spPr>
          <a:xfrm>
            <a:off x="731520" y="6309360"/>
            <a:ext cx="10698480" cy="365760"/>
          </a:xfrm>
          <a:prstGeom prst="rect">
            <a:avLst/>
          </a:prstGeom>
          <a:noFill/>
        </p:spPr>
        <p:txBody>
          <a:bodyPr wrap="none" lIns="0" tIns="0" rIns="0" bIns="0">
            <a:spAutoFit/>
          </a:bodyPr>
          <a:lstStyle/>
          <a:p>
            <a:pPr>
              <a:defRPr sz="1100">
                <a:solidFill>
                  <a:srgbClr val="64748B"/>
                </a:solidFill>
                <a:latin typeface="Arial"/>
              </a:defRPr>
            </a:pPr>
            <a:r>
              <a:t>100 Beal Street Senior Affordable Housing • Slide 16 of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